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7"/>
  </p:notesMasterIdLst>
  <p:handoutMasterIdLst>
    <p:handoutMasterId r:id="rId28"/>
  </p:handout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8"/>
    <p:sldId id="275" r:id="rId7"/>
    <p:sldId id="276" r:id="rId6"/>
    <p:sldId id="277" r:id="rId5"/>
    <p:sldId id="278" r:id="rId4"/>
    <p:sldId id="279" r:id="rId3"/>
    <p:sldId id="280" r:id="rId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hima Stephen" initials="C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0" autoAdjust="0"/>
    <p:restoredTop sz="94660"/>
  </p:normalViewPr>
  <p:slideViewPr>
    <p:cSldViewPr snapToGrid="0">
      <p:cViewPr varScale="1">
        <p:scale>
          <a:sx n="85" d="100"/>
          <a:sy n="85" d="100"/>
        </p:scale>
        <p:origin x="48" y="51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25.xml"/><Relationship Id="rId3" Type="http://schemas.openxmlformats.org/officeDocument/2006/relationships/slide" Target="slides/slide24.xml"/><Relationship Id="rId4" Type="http://schemas.openxmlformats.org/officeDocument/2006/relationships/slide" Target="slides/slide23.xml"/><Relationship Id="rId5" Type="http://schemas.openxmlformats.org/officeDocument/2006/relationships/slide" Target="slides/slide22.xml"/><Relationship Id="rId6" Type="http://schemas.openxmlformats.org/officeDocument/2006/relationships/slide" Target="slides/slide21.xml"/><Relationship Id="rId7" Type="http://schemas.openxmlformats.org/officeDocument/2006/relationships/slide" Target="slides/slide20.xml"/><Relationship Id="rId8" Type="http://schemas.openxmlformats.org/officeDocument/2006/relationships/slide" Target="slides/slide19.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notesMaster" Target="notesMasters/notesMaster1.xml"/><Relationship Id="rId28" Type="http://schemas.openxmlformats.org/officeDocument/2006/relationships/handoutMaster" Target="handoutMasters/handoutMaster1.xml"/><Relationship Id="rId29" Type="http://schemas.openxmlformats.org/officeDocument/2006/relationships/commentAuthors" Target="commentAuthors.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F153670-CDC2-4F05-BB07-436C415CDF7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RESTRICTED</a:t>
            </a:r>
            <a:endParaRPr lang="x-none"/>
          </a:p>
        </p:txBody>
      </p:sp>
      <p:sp>
        <p:nvSpPr>
          <p:cNvPr id="3" name="Date Placeholder 2">
            <a:extLst>
              <a:ext uri="{FF2B5EF4-FFF2-40B4-BE49-F238E27FC236}">
                <a16:creationId xmlns:a16="http://schemas.microsoft.com/office/drawing/2014/main" id="{59E517C3-B6BF-480B-8709-0B7D7434FB6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E3D8579-0909-4E3A-AE77-ECF4D5F7A57B}" type="datetimeFigureOut">
              <a:rPr lang="x-none" smtClean="0"/>
              <a:pPr/>
              <a:t>5/1/2026</a:t>
            </a:fld>
            <a:endParaRPr lang="x-none"/>
          </a:p>
        </p:txBody>
      </p:sp>
      <p:sp>
        <p:nvSpPr>
          <p:cNvPr id="4" name="Footer Placeholder 3">
            <a:extLst>
              <a:ext uri="{FF2B5EF4-FFF2-40B4-BE49-F238E27FC236}">
                <a16:creationId xmlns:a16="http://schemas.microsoft.com/office/drawing/2014/main" id="{261EDEBC-CD8F-4477-86C7-1250110B282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5" name="Slide Number Placeholder 4">
            <a:extLst>
              <a:ext uri="{FF2B5EF4-FFF2-40B4-BE49-F238E27FC236}">
                <a16:creationId xmlns:a16="http://schemas.microsoft.com/office/drawing/2014/main" id="{66E0389A-0A73-486E-9874-CDDDB36F66A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598C092-DB5B-435A-8387-4EF271746F5A}" type="slidenum">
              <a:rPr lang="x-none" smtClean="0"/>
              <a:pPr/>
              <a:t>‹#›</a:t>
            </a:fld>
            <a:endParaRPr lang="x-none"/>
          </a:p>
        </p:txBody>
      </p:sp>
    </p:spTree>
    <p:extLst>
      <p:ext uri="{BB962C8B-B14F-4D97-AF65-F5344CB8AC3E}">
        <p14:creationId xmlns:p14="http://schemas.microsoft.com/office/powerpoint/2010/main" val="3700522087"/>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GB"/>
              <a:t>RESTRICTED</a:t>
            </a:r>
            <a:endParaRPr lang="x-non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8ED7DB1-F265-4FE1-AA6E-0A0875D16FFB}" type="datetimeFigureOut">
              <a:rPr lang="x-none" smtClean="0"/>
              <a:pPr/>
              <a:t>5/1/2026</a:t>
            </a:fld>
            <a:endParaRPr lang="x-non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CE1ECF-FE3E-4958-959B-637ED4EE936F}" type="slidenum">
              <a:rPr lang="x-none" smtClean="0"/>
              <a:pPr/>
              <a:t>‹#›</a:t>
            </a:fld>
            <a:endParaRPr lang="x-none"/>
          </a:p>
        </p:txBody>
      </p:sp>
    </p:spTree>
    <p:extLst>
      <p:ext uri="{BB962C8B-B14F-4D97-AF65-F5344CB8AC3E}">
        <p14:creationId xmlns:p14="http://schemas.microsoft.com/office/powerpoint/2010/main" val="244233411"/>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distinction of the Commando lies not merely in physical toughness, but in a carefully engineered process of selection that tests determination, discipline, judgement and character under extreme fatigue. Understanding that process offers enduring insight into how elite forces are built and sustained.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grew out of a five-part television documentary which McManners devised with the producer-director Charles Thompson. It follows recruits and volunteers from the Army, Royal Navy and Royal Air Force as they battle the Final Exercise and the four Commando Tests for the right to wear the Green Beret.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Joseph Hugh McManners is a former British Army officer with first-hand experience of commando soldiering. He commanded a Naval Gunfire Forward Observation Party operating with the Special Boat Service in the Falklands and was Mentioned in Despatches for service between 21 May and 15 June 1982 (Commando Veterans Archive).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His blend of combat experience, insider knowledge of the Commando Brigade and journalistic skill makes him exceptionally qualified to write on the making of a commando. Falklands Commando was one of the first eye-witness accounts of combat in the Falklands War.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hardcover features a striking dust jacket with a colour photograph of two mud-soaked recruits wading through water, the title in bold red, and a banner announcing that it accompanies the television series. The back cover carries a silhouette of commandos at sunset with the tagline: The most feared amphibious infantry in the world.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book contains an Introduction, seven chapters and an Epilogue, with an index. It is illustrated with black-and-white photographs taken during filming, an organisation chart of Commando Forces, a diagram of the endurance course and captioned group photographs. A Penguin paperback followed in 1995 and a revised Kindle edition in 2014.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history of the Commandos and the four Commando Tests; the essence of the tests is mental. Chapter 1: All Arms Course 4/92 - dunker trainer, cliff-climbing and the death dive; only 15 of 34 remain. Chapter 2: 638 Troop learn amphibious raiding at Poole and raid the Portland breakwater fort. Chapter 3: ambushed in their lorries, then their own dawn ambush; lessons in alertness and integrity. Chapter 4: advance to contact and night yomps on Dartmoor in relentless rain, ending with a dawn assault on a Napoleonic fort.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5: the training team judge each recruit by asking, "Would I be prepared to go to war with this man?"; Recruit Jaftha battles his fear of the Tarzan course chasm. Chapter 6: the endurance course, 9-mile speed march, Tarzan assault course and 30-mile march. Chapter 7: Recruit Spink wins the King’s Badge; the All Arms volunteers receive their Green Berets and the King’s Squad pass out before the First Sea Lord. Epilogue: the new commandos in Norway, Belize and Bosnia; Jaftha finally earns his Green Beret in February 1993.</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Significance: one of the most authoritative insider accounts of commando selection; shows how a respected institution turns ordinary young men into elite amphibious soldiers. Materials: entirely original, drawn from first-hand observation and the recorded words of recruits and instructors; opens doors normally closed to outsiders. Facts: test standards, numbers and dates recorded with precision; the Commandant and training teams read the chapters before publication. Clarity: logical sequence building to the Commando Tests; terms explained as they arise; organisation chart, endurance course diagram and captioned photographs. Readability: present-tense, documentary immediacy; vivid scenes and lively dialogue make it a page-turner. Mental stimulation: real dilemmas of selection, standards and integrity invite the reader to ask what he would have done. Broad-mindedness: every voice is heard, from recruit to Commandant; failures are treated with dignity. Inspiration: Jaftha’s perseverance, and leaders such as Colonel Taffinder, Major Lear and Captain Williams who take hard decisions with fairness.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military officers, these lessons underline the need to build mental toughness deliberately into training and to enforce standards of personal discipline. Soldiers, sailors and airmen who pass the same tests as the Royal Marines earn the trust of the formation they join.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instructors and commanders portrayed in the book know their men and take difficult decisions with both rigour and compassion. Detailed orders and rehearsals kept the Portland raid on track when the radios failed, while lapses of honesty were dealt with severely.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"Commando: Winning the Green Beret" by Hugh McManners vividly captures the journey of young recruits and seasoned volunteers through one of the most demanding military courses in the world. Its clear narrative, authentic dialogue and rich illustrations make the realities of commando training accessible to all readers. The book offers valuable lessons in resilience, discipline, leadership and integrity, and is highly recommended to all officers, particularly those engaged in training and the selection of soldiers for specialist units.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anoramic Picture with Caption">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aption">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Quote with Caption">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Name Card">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Picture Column">
    <p:spTree>
      <p:nvGrpSpPr>
        <p:cNvPr id="1" name=""/>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alpha val="0"/>
          </a:srgbClr>
        </a:solidFill>
        <a:effectLst/>
      </p:bgPr>
    </p:bg>
    <p:spTree>
      <p:nvGrpSpPr>
        <p:cNvPr id="1" name=""/>
        <p:cNvGrpSpPr/>
        <p:nvPr/>
      </p:nvGrpSpPr>
      <p:grpSpPr>
        <a:xfrm>
          <a:off x="0" y="0"/>
          <a:ext cx="0" cy="0"/>
          <a:chOff x="0" y="0"/>
          <a:chExt cx="0" cy="0"/>
        </a:xfrm>
      </p:grpSpPr>
      <p:pic>
        <p:nvPicPr>
          <p:cNvPr id="7" name="Picture 3">
            <a:extLst>
              <a:ext uri="{FF2B5EF4-FFF2-40B4-BE49-F238E27FC236}">
                <a16:creationId xmlns:a16="http://schemas.microsoft.com/office/drawing/2014/main" id="{73B4C3CC-799B-478D-AC03-86E01BE02C54}"/>
              </a:ext>
            </a:extLst>
          </p:cNvPr>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9859" y="13648"/>
            <a:ext cx="969738" cy="1053265"/>
          </a:xfrm>
          <a:prstGeom prst="rect">
            <a:avLst/>
          </a:prstGeom>
          <a:solidFill>
            <a:srgbClr val="0000FF"/>
          </a:solidFill>
          <a:ln>
            <a:noFill/>
          </a:ln>
          <a:extLst>
            <a:ext uri="{91240B29-F687-4F45-9708-019B960494DF}">
              <a14:hiddenLine xmlns:a14="http://schemas.microsoft.com/office/drawing/2010/main" w="9525">
                <a:solidFill>
                  <a:srgbClr val="FF0000"/>
                </a:solidFill>
                <a:miter lim="800000"/>
                <a:headEnd/>
                <a:tailEnd/>
              </a14:hiddenLine>
            </a:ext>
          </a:extLst>
        </p:spPr>
      </p:pic>
      <p:pic>
        <p:nvPicPr>
          <p:cNvPr id="8" name="Picture 3">
            <a:extLst>
              <a:ext uri="{FF2B5EF4-FFF2-40B4-BE49-F238E27FC236}">
                <a16:creationId xmlns:a16="http://schemas.microsoft.com/office/drawing/2014/main" id="{37A93D82-574F-4B1B-9D34-7748D8AB8F3E}"/>
              </a:ext>
            </a:extLst>
          </p:cNvPr>
          <p:cNvPicPr>
            <a:picLocks noChangeAspect="1" noChangeArrowheads="1"/>
          </p:cNvPicPr>
          <p:nvPr userDrawn="1"/>
        </p:nvPicPr>
        <p:blipFill>
          <a:blip r:embed="rId19" cstate="print">
            <a:extLst>
              <a:ext uri="{28A0092B-C50C-407E-A947-70E740481C1C}">
                <a14:useLocalDpi xmlns:a14="http://schemas.microsoft.com/office/drawing/2010/main" val="0"/>
              </a:ext>
            </a:extLst>
          </a:blip>
          <a:srcRect/>
          <a:stretch>
            <a:fillRect/>
          </a:stretch>
        </p:blipFill>
        <p:spPr bwMode="auto">
          <a:xfrm>
            <a:off x="11212403" y="13648"/>
            <a:ext cx="969738" cy="1053265"/>
          </a:xfrm>
          <a:prstGeom prst="rect">
            <a:avLst/>
          </a:prstGeom>
          <a:solidFill>
            <a:srgbClr val="0000FF"/>
          </a:solidFill>
          <a:ln>
            <a:noFill/>
          </a:ln>
          <a:extLst>
            <a:ext uri="{91240B29-F687-4F45-9708-019B960494DF}">
              <a14:hiddenLine xmlns:a14="http://schemas.microsoft.com/office/drawing/2010/main" w="9525">
                <a:solidFill>
                  <a:srgbClr val="FF0000"/>
                </a:solidFill>
                <a:miter lim="800000"/>
                <a:headEnd/>
                <a:tailEnd/>
              </a14:hiddenLine>
            </a:ext>
          </a:extLst>
        </p:spPr>
      </p:pic>
      <p:sp>
        <p:nvSpPr>
          <p:cNvPr id="9" name="TextBox 8"/>
          <p:cNvSpPr txBox="1"/>
          <p:nvPr userDrawn="1"/>
        </p:nvSpPr>
        <p:spPr>
          <a:xfrm>
            <a:off x="4762500" y="50800"/>
            <a:ext cx="2667000" cy="400110"/>
          </a:xfrm>
          <a:prstGeom prst="rect">
            <a:avLst/>
          </a:prstGeom>
          <a:noFill/>
        </p:spPr>
        <p:txBody>
          <a:bodyPr wrap="square" rtlCol="0">
            <a:spAutoFit/>
          </a:bodyPr>
          <a:lstStyle/>
          <a:p>
            <a:pPr algn="ctr"/>
            <a:r>
              <a:rPr lang="en-US" sz="2000" dirty="0">
                <a:solidFill>
                  <a:schemeClr val="bg1"/>
                </a:solidFill>
                <a:latin typeface="Arial" pitchFamily="34" charset="0"/>
                <a:ea typeface="Tahoma" pitchFamily="34" charset="0"/>
                <a:cs typeface="Arial" pitchFamily="34" charset="0"/>
              </a:rPr>
              <a:t>RESTRICTED</a:t>
            </a:r>
          </a:p>
        </p:txBody>
      </p:sp>
      <p:sp>
        <p:nvSpPr>
          <p:cNvPr id="10" name="TextBox 9"/>
          <p:cNvSpPr txBox="1"/>
          <p:nvPr userDrawn="1"/>
        </p:nvSpPr>
        <p:spPr>
          <a:xfrm>
            <a:off x="4953000" y="6438325"/>
            <a:ext cx="2667000" cy="400110"/>
          </a:xfrm>
          <a:prstGeom prst="rect">
            <a:avLst/>
          </a:prstGeom>
          <a:noFill/>
        </p:spPr>
        <p:txBody>
          <a:bodyPr wrap="square" rtlCol="0">
            <a:spAutoFit/>
          </a:bodyPr>
          <a:lstStyle/>
          <a:p>
            <a:pPr algn="ctr"/>
            <a:r>
              <a:rPr lang="en-US" sz="2000" dirty="0">
                <a:solidFill>
                  <a:schemeClr val="bg1"/>
                </a:solidFill>
                <a:latin typeface="Arial" pitchFamily="34" charset="0"/>
                <a:ea typeface="Tahoma" pitchFamily="34" charset="0"/>
                <a:cs typeface="Arial" pitchFamily="34" charset="0"/>
              </a:rPr>
              <a:t>RESTRICTED</a:t>
            </a:r>
          </a:p>
        </p:txBody>
      </p:sp>
      <p:sp>
        <p:nvSpPr>
          <p:cNvPr id="11" name="TextBox 10"/>
          <p:cNvSpPr txBox="1"/>
          <p:nvPr userDrawn="1"/>
        </p:nvSpPr>
        <p:spPr>
          <a:xfrm>
            <a:off x="10972800" y="6419790"/>
            <a:ext cx="1206500" cy="400110"/>
          </a:xfrm>
          <a:prstGeom prst="rect">
            <a:avLst/>
          </a:prstGeom>
          <a:noFill/>
        </p:spPr>
        <p:txBody>
          <a:bodyPr wrap="square" rtlCol="0">
            <a:spAutoFit/>
          </a:bodyPr>
          <a:lstStyle/>
          <a:p>
            <a:pPr algn="ctr"/>
            <a:fld id="{0716D1F8-E267-44E0-8F89-D79C545F68DF}" type="slidenum">
              <a:rPr lang="en-US" sz="2000" smtClean="0">
                <a:solidFill>
                  <a:schemeClr val="bg1"/>
                </a:solidFill>
                <a:latin typeface="Arial" pitchFamily="34" charset="0"/>
                <a:ea typeface="Tahoma" pitchFamily="34" charset="0"/>
                <a:cs typeface="Arial" pitchFamily="34" charset="0"/>
              </a:rPr>
              <a:pPr algn="ctr"/>
              <a:t>‹#›</a:t>
            </a:fld>
            <a:endParaRPr lang="en-US" sz="2000" dirty="0">
              <a:solidFill>
                <a:schemeClr val="bg1"/>
              </a:solidFill>
              <a:latin typeface="Arial" pitchFamily="34" charset="0"/>
              <a:ea typeface="Tahoma" pitchFamily="34" charset="0"/>
              <a:cs typeface="Arial" pitchFamily="34" charset="0"/>
            </a:endParaRP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hdr="0" dt="0"/>
  <p:txStyles>
    <p:titleStyle>
      <a:lvl1pPr algn="l" defTabSz="914400" rtl="0" eaLnBrk="1" latinLnBrk="0" hangingPunct="1">
        <a:lnSpc>
          <a:spcPct val="90000"/>
        </a:lnSpc>
        <a:spcBef>
          <a:spcPct val="0"/>
        </a:spcBef>
        <a:buNone/>
        <a:defRPr sz="5400" b="0" kern="1200">
          <a:solidFill>
            <a:srgbClr val="FFFF00"/>
          </a:solidFill>
          <a:latin typeface="Times New Roman" panose="02020603050405020304" pitchFamily="18" charset="0"/>
          <a:ea typeface="+mj-ea"/>
          <a:cs typeface="Times New Roman" panose="02020603050405020304" pitchFamily="18" charset="0"/>
        </a:defRPr>
      </a:lvl1pPr>
    </p:titleStyle>
    <p:bodyStyle>
      <a:lvl1pPr marL="0" indent="0" algn="l" defTabSz="914400" rtl="0" eaLnBrk="1" latinLnBrk="0" hangingPunct="1">
        <a:lnSpc>
          <a:spcPct val="90000"/>
        </a:lnSpc>
        <a:spcBef>
          <a:spcPts val="1000"/>
        </a:spcBef>
        <a:buFont typeface="Arial" panose="020B0604020202020204" pitchFamily="34" charset="0"/>
        <a:buNone/>
        <a:defRPr sz="2800" kern="1200">
          <a:solidFill>
            <a:srgbClr val="FFFF00"/>
          </a:solidFill>
          <a:latin typeface="Times New Roman" panose="02020603050405020304" pitchFamily="18" charset="0"/>
          <a:ea typeface="+mn-ea"/>
          <a:cs typeface="Times New Roman" panose="02020603050405020304" pitchFamily="18" charset="0"/>
        </a:defRPr>
      </a:lvl1pPr>
      <a:lvl2pPr marL="971550" indent="-514350" algn="l" defTabSz="914400" rtl="0" eaLnBrk="1" latinLnBrk="0" hangingPunct="1">
        <a:lnSpc>
          <a:spcPct val="90000"/>
        </a:lnSpc>
        <a:spcBef>
          <a:spcPts val="500"/>
        </a:spcBef>
        <a:buFont typeface="+mj-lt"/>
        <a:buAutoNum type="arabicPeriod"/>
        <a:defRPr sz="2800" kern="1200">
          <a:solidFill>
            <a:srgbClr val="FFFF00"/>
          </a:solidFill>
          <a:latin typeface="Times New Roman" panose="02020603050405020304" pitchFamily="18" charset="0"/>
          <a:ea typeface="+mn-ea"/>
          <a:cs typeface="Times New Roman" panose="02020603050405020304" pitchFamily="18" charset="0"/>
        </a:defRPr>
      </a:lvl2pPr>
      <a:lvl3pPr marL="1428750" indent="-514350" algn="l" defTabSz="914400" rtl="0" eaLnBrk="1" latinLnBrk="0" hangingPunct="1">
        <a:lnSpc>
          <a:spcPct val="90000"/>
        </a:lnSpc>
        <a:spcBef>
          <a:spcPts val="500"/>
        </a:spcBef>
        <a:buFont typeface="+mj-lt"/>
        <a:buAutoNum type="alphaLcPeriod"/>
        <a:defRPr sz="2800" kern="1200">
          <a:solidFill>
            <a:srgbClr val="FFFF00"/>
          </a:solidFill>
          <a:latin typeface="Times New Roman" panose="02020603050405020304" pitchFamily="18" charset="0"/>
          <a:ea typeface="+mn-ea"/>
          <a:cs typeface="Times New Roman" panose="02020603050405020304" pitchFamily="18" charset="0"/>
        </a:defRPr>
      </a:lvl3pPr>
      <a:lvl4pPr marL="1885950" indent="-514350" algn="l" defTabSz="914400" rtl="0" eaLnBrk="1" latinLnBrk="0" hangingPunct="1">
        <a:lnSpc>
          <a:spcPct val="90000"/>
        </a:lnSpc>
        <a:spcBef>
          <a:spcPts val="500"/>
        </a:spcBef>
        <a:buFont typeface="+mj-lt"/>
        <a:buAutoNum type="arabicParenR"/>
        <a:defRPr sz="2800" kern="1200">
          <a:solidFill>
            <a:srgbClr val="FFFF00"/>
          </a:solidFill>
          <a:latin typeface="Times New Roman" panose="02020603050405020304" pitchFamily="18" charset="0"/>
          <a:ea typeface="+mn-ea"/>
          <a:cs typeface="Times New Roman" panose="02020603050405020304" pitchFamily="18" charset="0"/>
        </a:defRPr>
      </a:lvl4pPr>
      <a:lvl5pPr marL="2343150" indent="-514350" algn="l" defTabSz="914400" rtl="0" eaLnBrk="1" latinLnBrk="0" hangingPunct="1">
        <a:lnSpc>
          <a:spcPct val="90000"/>
        </a:lnSpc>
        <a:spcBef>
          <a:spcPts val="500"/>
        </a:spcBef>
        <a:buFont typeface="+mj-lt"/>
        <a:buAutoNum type="alphaLcParenR"/>
        <a:defRPr sz="2800" kern="1200">
          <a:solidFill>
            <a:srgbClr val="FFFF00"/>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jp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jpg"/><Relationship Id="rId3" Type="http://schemas.openxmlformats.org/officeDocument/2006/relationships/image" Target="../media/image5.jpg"/><Relationship Id="rId4" Type="http://schemas.openxmlformats.org/officeDocument/2006/relationships/image" Target="../media/image6.jpg"/><Relationship Id="rId5" Type="http://schemas.openxmlformats.org/officeDocument/2006/relationships/image" Target="../media/image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jpg"/><Relationship Id="rId3"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777240" y="1325880"/>
            <a:ext cx="10634472" cy="2103120"/>
          </a:xfrm>
          <a:prstGeom prst="rect">
            <a:avLst/>
          </a:prstGeom>
          <a:noFill/>
        </p:spPr>
        <p:txBody>
          <a:bodyPr wrap="square" anchor="ctr">
            <a:spAutoFit/>
          </a:bodyPr>
          <a:lstStyle/>
          <a:p>
            <a:pPr algn="ctr"/>
            <a:r>
              <a:rPr sz="3600" b="1" u="none" i="0">
                <a:solidFill>
                  <a:schemeClr val="bg1"/>
                </a:solidFill>
                <a:latin typeface="Arial"/>
                <a:cs typeface="Arial"/>
              </a:rPr>
              <a:t>REVIEW OF “COMMANDO: WINNING THE GREEN BERET” BY HUGH McMANNERS</a:t>
            </a:r>
          </a:p>
        </p:txBody>
      </p:sp>
      <p:sp>
        <p:nvSpPr>
          <p:cNvPr id="3" name="Presenter"/>
          <p:cNvSpPr txBox="1"/>
          <p:nvPr/>
        </p:nvSpPr>
        <p:spPr>
          <a:xfrm>
            <a:off x="777240" y="3977639"/>
            <a:ext cx="10634472" cy="731520"/>
          </a:xfrm>
          <a:prstGeom prst="rect">
            <a:avLst/>
          </a:prstGeom>
          <a:noFill/>
        </p:spPr>
        <p:txBody>
          <a:bodyPr wrap="square">
            <a:spAutoFit/>
          </a:bodyPr>
          <a:lstStyle/>
          <a:p>
            <a:pPr algn="ctr"/>
            <a:r>
              <a:rPr sz="2800" b="1" u="none" i="0">
                <a:solidFill>
                  <a:schemeClr val="bg1"/>
                </a:solidFill>
                <a:latin typeface="Arial"/>
                <a:cs typeface="Arial"/>
              </a:rPr>
              <a:t>PRESENTATION BY (RANK &amp; NAME)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914400" y="2651760"/>
            <a:ext cx="10360152" cy="1463040"/>
          </a:xfrm>
          <a:prstGeom prst="rect">
            <a:avLst/>
          </a:prstGeom>
          <a:noFill/>
        </p:spPr>
        <p:txBody>
          <a:bodyPr wrap="square" anchor="ctr">
            <a:spAutoFit/>
          </a:bodyPr>
          <a:lstStyle/>
          <a:p>
            <a:pPr algn="ctr"/>
            <a:r>
              <a:rPr sz="3200" b="0" u="none" i="0">
                <a:solidFill>
                  <a:schemeClr val="bg1"/>
                </a:solidFill>
                <a:latin typeface="Arial"/>
                <a:cs typeface="Arial"/>
              </a:rPr>
              <a:t>INTRODUCTION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INTRODUCTION (CONT)</a:t>
            </a:r>
          </a:p>
        </p:txBody>
      </p:sp>
      <p:sp>
        <p:nvSpPr>
          <p:cNvPr id="3" name="Content"/>
          <p:cNvSpPr txBox="1"/>
          <p:nvPr/>
        </p:nvSpPr>
        <p:spPr>
          <a:xfrm>
            <a:off x="548640" y="1234440"/>
            <a:ext cx="11064240" cy="5029200"/>
          </a:xfrm>
          <a:prstGeom prst="rect">
            <a:avLst/>
          </a:prstGeom>
          <a:noFill/>
        </p:spPr>
        <p:txBody>
          <a:bodyPr wrap="square">
            <a:spAutoFit/>
          </a:bodyPr>
          <a:lstStyle/>
          <a:p>
            <a:pPr marL="457200" indent="-457200" algn="just">
              <a:spcAft>
                <a:spcPts val="1800"/>
              </a:spcAft>
              <a:buFont typeface="Arial"/>
              <a:buChar char="•"/>
            </a:pPr>
            <a:r>
              <a:rPr sz="2600" b="0" u="none" i="0">
                <a:solidFill>
                  <a:schemeClr val="bg1"/>
                </a:solidFill>
                <a:latin typeface="Arial"/>
                <a:cs typeface="Arial"/>
              </a:rPr>
              <a:t>Few emblems in the profession of arms command the prestige and mystique of the Green Beret of the British Commando.</a:t>
            </a:r>
          </a:p>
          <a:p>
            <a:pPr marL="457200" indent="-457200" algn="just">
              <a:spcAft>
                <a:spcPts val="1800"/>
              </a:spcAft>
              <a:buFont typeface="Arial"/>
              <a:buChar char="•"/>
            </a:pPr>
            <a:r>
              <a:rPr sz="2600" b="0" u="none" i="0">
                <a:solidFill>
                  <a:schemeClr val="bg1"/>
                </a:solidFill>
                <a:latin typeface="Arial"/>
                <a:cs typeface="Arial"/>
              </a:rPr>
              <a:t>Born in the Second World War, the Commandos became so feared that Hitler declared captured Commandos outside the protection of the Geneva Conventions.</a:t>
            </a:r>
          </a:p>
          <a:p>
            <a:pPr marL="457200" indent="-457200" algn="just">
              <a:spcAft>
                <a:spcPts val="1800"/>
              </a:spcAft>
              <a:buFont typeface="Arial"/>
              <a:buChar char="•"/>
            </a:pPr>
            <a:r>
              <a:rPr sz="2600" b="0" u="none" i="0">
                <a:solidFill>
                  <a:schemeClr val="bg1"/>
                </a:solidFill>
                <a:latin typeface="Arial"/>
                <a:cs typeface="Arial"/>
              </a:rPr>
              <a:t>Today the soldiers, sailors, airmen and Royal Marines of 3 Commando Brigade must pass the gruelling Commando Course to wear the beret.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INTRODUCTION (CONT)</a:t>
            </a:r>
          </a:p>
        </p:txBody>
      </p:sp>
      <p:sp>
        <p:nvSpPr>
          <p:cNvPr id="3" name="Content"/>
          <p:cNvSpPr txBox="1"/>
          <p:nvPr/>
        </p:nvSpPr>
        <p:spPr>
          <a:xfrm>
            <a:off x="548640" y="1234440"/>
            <a:ext cx="11064240" cy="5029200"/>
          </a:xfrm>
          <a:prstGeom prst="rect">
            <a:avLst/>
          </a:prstGeom>
          <a:noFill/>
        </p:spPr>
        <p:txBody>
          <a:bodyPr wrap="square">
            <a:spAutoFit/>
          </a:bodyPr>
          <a:lstStyle/>
          <a:p>
            <a:pPr marL="457200" indent="-457200" algn="just">
              <a:spcAft>
                <a:spcPts val="1800"/>
              </a:spcAft>
              <a:buFont typeface="Arial"/>
              <a:buChar char="•"/>
            </a:pPr>
            <a:r>
              <a:rPr sz="2600" b="0" u="none" i="0">
                <a:solidFill>
                  <a:schemeClr val="bg1"/>
                </a:solidFill>
                <a:latin typeface="Arial"/>
                <a:cs typeface="Arial"/>
              </a:rPr>
              <a:t>“Commando: Winning the Green Beret” by Hugh McManners follows 638 Recruit Troop and All Arms Commando Course 4/92 through the winter of 1992.</a:t>
            </a:r>
          </a:p>
          <a:p>
            <a:pPr marL="457200" indent="-457200" algn="just">
              <a:spcAft>
                <a:spcPts val="1800"/>
              </a:spcAft>
              <a:buFont typeface="Arial"/>
              <a:buChar char="•"/>
            </a:pPr>
            <a:r>
              <a:rPr sz="2600" b="0" u="none" i="0">
                <a:solidFill>
                  <a:schemeClr val="bg1"/>
                </a:solidFill>
                <a:latin typeface="Arial"/>
                <a:cs typeface="Arial"/>
              </a:rPr>
              <a:t>It reveals that the essence of commando selection is mental: determination, discipline and character under extreme fatigue.</a:t>
            </a:r>
          </a:p>
          <a:p>
            <a:pPr marL="457200" indent="-457200" algn="just">
              <a:spcAft>
                <a:spcPts val="1800"/>
              </a:spcAft>
              <a:buFont typeface="Arial"/>
              <a:buChar char="•"/>
            </a:pPr>
            <a:r>
              <a:rPr sz="2600" b="0" u="none" i="0">
                <a:solidFill>
                  <a:schemeClr val="bg1"/>
                </a:solidFill>
                <a:latin typeface="Arial"/>
                <a:cs typeface="Arial"/>
              </a:rPr>
              <a:t>Described by Publishers Weekly as a “brief and arresting” account of why the Royal Marine Commandos are so highly regarded.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AIM</a:t>
            </a:r>
          </a:p>
        </p:txBody>
      </p:sp>
      <p:sp>
        <p:nvSpPr>
          <p:cNvPr id="3" name="Content"/>
          <p:cNvSpPr txBox="1"/>
          <p:nvPr/>
        </p:nvSpPr>
        <p:spPr>
          <a:xfrm>
            <a:off x="548640" y="2011680"/>
            <a:ext cx="11064240" cy="5029200"/>
          </a:xfrm>
          <a:prstGeom prst="rect">
            <a:avLst/>
          </a:prstGeom>
          <a:noFill/>
        </p:spPr>
        <p:txBody>
          <a:bodyPr wrap="square">
            <a:spAutoFit/>
          </a:bodyPr>
          <a:lstStyle/>
          <a:p>
            <a:pPr marL="457200" indent="-457200" algn="just">
              <a:spcAft>
                <a:spcPts val="1400"/>
              </a:spcAft>
              <a:buFont typeface="Arial"/>
              <a:buChar char="•"/>
            </a:pPr>
            <a:r>
              <a:rPr sz="3000" b="0" u="none" i="0">
                <a:solidFill>
                  <a:schemeClr val="bg1"/>
                </a:solidFill>
                <a:latin typeface="Arial"/>
                <a:cs typeface="Arial"/>
              </a:rPr>
              <a:t>To review the book “Commando: Winning the Green Beret” by Hugh McManners with the goal of assessing its scope and relevance and drawing lessons.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SCOPE</a:t>
            </a:r>
          </a:p>
        </p:txBody>
      </p:sp>
      <p:sp>
        <p:nvSpPr>
          <p:cNvPr id="3" name="Content"/>
          <p:cNvSpPr txBox="1"/>
          <p:nvPr/>
        </p:nvSpPr>
        <p:spPr>
          <a:xfrm>
            <a:off x="1097280" y="1234440"/>
            <a:ext cx="9601200" cy="5029200"/>
          </a:xfrm>
          <a:prstGeom prst="rect">
            <a:avLst/>
          </a:prstGeom>
          <a:noFill/>
        </p:spPr>
        <p:txBody>
          <a:bodyPr wrap="square">
            <a:spAutoFit/>
          </a:bodyPr>
          <a:lstStyle/>
          <a:p>
            <a:pPr marL="571500" indent="-571500" algn="l">
              <a:spcAft>
                <a:spcPts val="1200"/>
              </a:spcAft>
              <a:buFont typeface="Arial"/>
              <a:buAutoNum type="arabicPeriod"/>
            </a:pPr>
            <a:r>
              <a:rPr sz="2800" b="0" u="none" i="0">
                <a:solidFill>
                  <a:schemeClr val="bg1"/>
                </a:solidFill>
                <a:latin typeface="Arial"/>
                <a:cs typeface="Arial"/>
              </a:rPr>
              <a:t>Biography of the Author.</a:t>
            </a:r>
          </a:p>
          <a:p>
            <a:pPr marL="571500" indent="-571500" algn="l">
              <a:spcAft>
                <a:spcPts val="1200"/>
              </a:spcAft>
              <a:buFont typeface="Arial"/>
              <a:buAutoNum type="arabicPeriod"/>
            </a:pPr>
            <a:r>
              <a:rPr sz="2800" b="0" u="none" i="0">
                <a:solidFill>
                  <a:schemeClr val="bg1"/>
                </a:solidFill>
                <a:latin typeface="Arial"/>
                <a:cs typeface="Arial"/>
              </a:rPr>
              <a:t>Overview of the Book.</a:t>
            </a:r>
          </a:p>
          <a:p>
            <a:pPr marL="571500" indent="-571500" algn="l">
              <a:spcAft>
                <a:spcPts val="1200"/>
              </a:spcAft>
              <a:buFont typeface="Arial"/>
              <a:buAutoNum type="arabicPeriod"/>
            </a:pPr>
            <a:r>
              <a:rPr sz="2800" b="0" u="none" i="0">
                <a:solidFill>
                  <a:schemeClr val="bg1"/>
                </a:solidFill>
                <a:latin typeface="Arial"/>
                <a:cs typeface="Arial"/>
              </a:rPr>
              <a:t>Summary of the Book.</a:t>
            </a:r>
          </a:p>
          <a:p>
            <a:pPr marL="571500" indent="-571500" algn="l">
              <a:spcAft>
                <a:spcPts val="1200"/>
              </a:spcAft>
              <a:buFont typeface="Arial"/>
              <a:buAutoNum type="arabicPeriod"/>
            </a:pPr>
            <a:r>
              <a:rPr sz="2800" b="0" u="none" i="0">
                <a:solidFill>
                  <a:schemeClr val="bg1"/>
                </a:solidFill>
                <a:latin typeface="Arial"/>
                <a:cs typeface="Arial"/>
              </a:rPr>
              <a:t>Evaluation of the Book.</a:t>
            </a:r>
          </a:p>
          <a:p>
            <a:pPr marL="571500" indent="-571500" algn="l">
              <a:spcAft>
                <a:spcPts val="1200"/>
              </a:spcAft>
              <a:buFont typeface="Arial"/>
              <a:buAutoNum type="arabicPeriod"/>
            </a:pPr>
            <a:r>
              <a:rPr sz="2800" b="0" u="none" i="0">
                <a:solidFill>
                  <a:schemeClr val="bg1"/>
                </a:solidFill>
                <a:latin typeface="Arial"/>
                <a:cs typeface="Arial"/>
              </a:rPr>
              <a:t>Lessons Learnt.</a:t>
            </a:r>
          </a:p>
          <a:p>
            <a:pPr marL="571500" indent="-571500" algn="l">
              <a:spcAft>
                <a:spcPts val="1200"/>
              </a:spcAft>
              <a:buFont typeface="Arial"/>
              <a:buAutoNum type="arabicPeriod"/>
            </a:pPr>
            <a:r>
              <a:rPr sz="2800" b="0" u="none" i="0">
                <a:solidFill>
                  <a:schemeClr val="bg1"/>
                </a:solidFill>
                <a:latin typeface="Arial"/>
                <a:cs typeface="Arial"/>
              </a:rPr>
              <a:t>Conclusion.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914400" y="2651760"/>
            <a:ext cx="10360152" cy="1463040"/>
          </a:xfrm>
          <a:prstGeom prst="rect">
            <a:avLst/>
          </a:prstGeom>
          <a:noFill/>
        </p:spPr>
        <p:txBody>
          <a:bodyPr wrap="square" anchor="ctr">
            <a:spAutoFit/>
          </a:bodyPr>
          <a:lstStyle/>
          <a:p>
            <a:pPr algn="ctr"/>
            <a:r>
              <a:rPr sz="3200" b="0" u="none" i="0">
                <a:solidFill>
                  <a:schemeClr val="bg1"/>
                </a:solidFill>
                <a:latin typeface="Arial"/>
                <a:cs typeface="Arial"/>
              </a:rPr>
              <a:t>BIOGRAPHY OF THE AUTHOR</a:t>
            </a:r>
          </a:p>
          <a:p>
            <a:pPr algn="ctr"/>
            <a:r>
              <a:rPr sz="3200" b="0" u="none" i="0">
                <a:solidFill>
                  <a:schemeClr val="bg1"/>
                </a:solidFill>
                <a:latin typeface="Arial"/>
                <a:cs typeface="Arial"/>
              </a:rPr>
              <a:t>HUGH McMANNERS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BIOGRAPHY OF HUGH McMANNERS (CONT)</a:t>
            </a:r>
          </a:p>
        </p:txBody>
      </p:sp>
      <p:sp>
        <p:nvSpPr>
          <p:cNvPr id="3" name="Content"/>
          <p:cNvSpPr txBox="1"/>
          <p:nvPr/>
        </p:nvSpPr>
        <p:spPr>
          <a:xfrm>
            <a:off x="548640" y="1234440"/>
            <a:ext cx="11064240" cy="5029200"/>
          </a:xfrm>
          <a:prstGeom prst="rect">
            <a:avLst/>
          </a:prstGeom>
          <a:noFill/>
        </p:spPr>
        <p:txBody>
          <a:bodyPr wrap="square">
            <a:spAutoFit/>
          </a:bodyPr>
          <a:lstStyle/>
          <a:p>
            <a:pPr>
              <a:spcAft>
                <a:spcPts val="600"/>
              </a:spcAft>
              <a:buNone/>
            </a:pPr>
            <a:r>
              <a:rPr sz="2000" b="0" u="sng" i="0">
                <a:solidFill>
                  <a:schemeClr val="bg1"/>
                </a:solidFill>
                <a:latin typeface="Arial"/>
                <a:cs typeface="Arial"/>
              </a:rPr>
              <a:t>Birth and Military Career</a:t>
            </a:r>
          </a:p>
          <a:p>
            <a:pPr marL="457200" indent="-457200" algn="just">
              <a:spcAft>
                <a:spcPts val="800"/>
              </a:spcAft>
              <a:buFont typeface="Arial"/>
              <a:buChar char="•"/>
            </a:pPr>
            <a:r>
              <a:rPr sz="2000" b="0" u="none" i="0">
                <a:solidFill>
                  <a:schemeClr val="bg1"/>
                </a:solidFill>
                <a:latin typeface="Arial"/>
                <a:cs typeface="Arial"/>
              </a:rPr>
              <a:t>Born in Oxford in 1952 and raised largely in Australia.</a:t>
            </a:r>
          </a:p>
          <a:p>
            <a:pPr marL="457200" indent="-457200" algn="just">
              <a:spcAft>
                <a:spcPts val="800"/>
              </a:spcAft>
              <a:buFont typeface="Arial"/>
              <a:buChar char="•"/>
            </a:pPr>
            <a:r>
              <a:rPr sz="2000" b="0" u="none" i="0">
                <a:solidFill>
                  <a:schemeClr val="bg1"/>
                </a:solidFill>
                <a:latin typeface="Arial"/>
                <a:cs typeface="Arial"/>
              </a:rPr>
              <a:t>Read Geography at St Edmund Hall, Oxford.</a:t>
            </a:r>
          </a:p>
          <a:p>
            <a:pPr marL="457200" indent="-457200" algn="just">
              <a:spcAft>
                <a:spcPts val="800"/>
              </a:spcAft>
              <a:buFont typeface="Arial"/>
              <a:buChar char="•"/>
            </a:pPr>
            <a:r>
              <a:rPr sz="2000" b="0" u="none" i="0">
                <a:solidFill>
                  <a:schemeClr val="bg1"/>
                </a:solidFill>
                <a:latin typeface="Arial"/>
                <a:cs typeface="Arial"/>
              </a:rPr>
              <a:t>Commissioned into the Royal Artillery in 1973.</a:t>
            </a:r>
          </a:p>
          <a:p>
            <a:pPr marL="457200" indent="-457200" algn="just">
              <a:spcAft>
                <a:spcPts val="800"/>
              </a:spcAft>
              <a:buFont typeface="Arial"/>
              <a:buChar char="•"/>
            </a:pPr>
            <a:r>
              <a:rPr sz="2000" b="0" u="none" i="0">
                <a:solidFill>
                  <a:schemeClr val="bg1"/>
                </a:solidFill>
                <a:latin typeface="Arial"/>
                <a:cs typeface="Arial"/>
              </a:rPr>
              <a:t>Passed the All Arms Commando Course and served five years with 148 (Meiktila) Commando Forward Observation Battery.</a:t>
            </a:r>
          </a:p>
          <a:p>
            <a:pPr marL="457200" indent="-457200" algn="just">
              <a:spcAft>
                <a:spcPts val="800"/>
              </a:spcAft>
              <a:buFont typeface="Arial"/>
              <a:buChar char="•"/>
            </a:pPr>
            <a:r>
              <a:rPr sz="2000" b="0" u="none" i="0">
                <a:solidFill>
                  <a:schemeClr val="bg1"/>
                </a:solidFill>
                <a:latin typeface="Arial"/>
                <a:cs typeface="Arial"/>
              </a:rPr>
              <a:t>Qualified as a commando, military parachutist and army diving supervisor; ran the Army’s jungle warfare school in Belize.</a:t>
            </a:r>
          </a:p>
          <a:p>
            <a:pPr marL="457200" indent="-457200" algn="just">
              <a:spcAft>
                <a:spcPts val="800"/>
              </a:spcAft>
              <a:buFont typeface="Arial"/>
              <a:buChar char="•"/>
            </a:pPr>
            <a:r>
              <a:rPr sz="2000" b="0" u="none" i="0">
                <a:solidFill>
                  <a:schemeClr val="bg1"/>
                </a:solidFill>
                <a:latin typeface="Arial"/>
                <a:cs typeface="Arial"/>
              </a:rPr>
              <a:t>Falklands War 1982: led a naval gunfire forward observation team with the Special Boat Service; Mentioned in Despatches.</a:t>
            </a:r>
          </a:p>
          <a:p>
            <a:pPr marL="457200" indent="-457200" algn="just">
              <a:spcAft>
                <a:spcPts val="800"/>
              </a:spcAft>
              <a:buFont typeface="Arial"/>
              <a:buChar char="•"/>
            </a:pPr>
            <a:r>
              <a:rPr sz="2000" b="0" u="none" i="0">
                <a:solidFill>
                  <a:schemeClr val="bg1"/>
                </a:solidFill>
                <a:latin typeface="Arial"/>
                <a:cs typeface="Arial"/>
              </a:rPr>
              <a:t>Left the Army as a Major in 1989 after some 13 years with 3 Commando Brigade.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BIOGRAPHY OF HUGH McMANNERS (CONT)</a:t>
            </a:r>
          </a:p>
        </p:txBody>
      </p:sp>
      <p:sp>
        <p:nvSpPr>
          <p:cNvPr id="3" name="Content"/>
          <p:cNvSpPr txBox="1"/>
          <p:nvPr/>
        </p:nvSpPr>
        <p:spPr>
          <a:xfrm>
            <a:off x="548640" y="1234440"/>
            <a:ext cx="11064240" cy="5029200"/>
          </a:xfrm>
          <a:prstGeom prst="rect">
            <a:avLst/>
          </a:prstGeom>
          <a:noFill/>
        </p:spPr>
        <p:txBody>
          <a:bodyPr wrap="square">
            <a:spAutoFit/>
          </a:bodyPr>
          <a:lstStyle/>
          <a:p>
            <a:pPr>
              <a:spcAft>
                <a:spcPts val="600"/>
              </a:spcAft>
              <a:buNone/>
            </a:pPr>
            <a:r>
              <a:rPr sz="2200" b="0" u="sng" i="0">
                <a:solidFill>
                  <a:schemeClr val="bg1"/>
                </a:solidFill>
                <a:latin typeface="Arial"/>
                <a:cs typeface="Arial"/>
              </a:rPr>
              <a:t>Career after the Army</a:t>
            </a:r>
          </a:p>
          <a:p>
            <a:pPr marL="457200" indent="-457200" algn="just">
              <a:spcAft>
                <a:spcPts val="1200"/>
              </a:spcAft>
              <a:buFont typeface="Arial"/>
              <a:buChar char="•"/>
            </a:pPr>
            <a:r>
              <a:rPr sz="2200" b="0" u="none" i="0">
                <a:solidFill>
                  <a:schemeClr val="bg1"/>
                </a:solidFill>
                <a:latin typeface="Arial"/>
                <a:cs typeface="Arial"/>
              </a:rPr>
              <a:t>Defence Correspondent of The Sunday Times; also wrote for The Observer and The Daily Telegraph.</a:t>
            </a:r>
          </a:p>
          <a:p>
            <a:pPr marL="457200" indent="-457200" algn="just">
              <a:spcAft>
                <a:spcPts val="1200"/>
              </a:spcAft>
              <a:buFont typeface="Arial"/>
              <a:buChar char="•"/>
            </a:pPr>
            <a:r>
              <a:rPr sz="2200" b="0" u="none" i="0">
                <a:solidFill>
                  <a:schemeClr val="bg1"/>
                </a:solidFill>
                <a:latin typeface="Arial"/>
                <a:cs typeface="Arial"/>
              </a:rPr>
              <a:t>Television documentary producer; co-devised the series “Commando” on which this book is based.</a:t>
            </a:r>
          </a:p>
          <a:p>
            <a:pPr marL="457200" indent="-457200" algn="just">
              <a:spcAft>
                <a:spcPts val="1200"/>
              </a:spcAft>
              <a:buFont typeface="Arial"/>
              <a:buChar char="•"/>
            </a:pPr>
            <a:r>
              <a:rPr sz="2200" b="0" u="none" i="0">
                <a:solidFill>
                  <a:schemeClr val="bg1"/>
                </a:solidFill>
                <a:latin typeface="Arial"/>
                <a:cs typeface="Arial"/>
              </a:rPr>
              <a:t>Editor of Command magazine.</a:t>
            </a:r>
          </a:p>
          <a:p>
            <a:pPr marL="457200" indent="-457200" algn="just">
              <a:spcAft>
                <a:spcPts val="1200"/>
              </a:spcAft>
              <a:buFont typeface="Arial"/>
              <a:buChar char="•"/>
            </a:pPr>
            <a:r>
              <a:rPr sz="2200" b="0" u="none" i="0">
                <a:solidFill>
                  <a:schemeClr val="bg1"/>
                </a:solidFill>
                <a:latin typeface="Arial"/>
                <a:cs typeface="Arial"/>
              </a:rPr>
              <a:t>Author of some fifteen books, including “Falklands Commando” (1984), “The Scars of War” (1993), “The Commando Survival Manual”, “Ultimate Special Forces” and “Forgotten Voices of the Falklands” (2007).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914400" y="2651760"/>
            <a:ext cx="10360152" cy="1463040"/>
          </a:xfrm>
          <a:prstGeom prst="rect">
            <a:avLst/>
          </a:prstGeom>
          <a:noFill/>
        </p:spPr>
        <p:txBody>
          <a:bodyPr wrap="square" anchor="ctr">
            <a:spAutoFit/>
          </a:bodyPr>
          <a:lstStyle/>
          <a:p>
            <a:pPr algn="ctr"/>
            <a:r>
              <a:rPr sz="3200" b="0" u="none" i="0">
                <a:solidFill>
                  <a:schemeClr val="bg1"/>
                </a:solidFill>
                <a:latin typeface="Arial"/>
                <a:cs typeface="Arial"/>
              </a:rPr>
              <a:t>OVERVIEW OF THE BOOK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OVERVIEW OF THE BOOK (CONT)</a:t>
            </a:r>
          </a:p>
        </p:txBody>
      </p:sp>
      <p:pic>
        <p:nvPicPr>
          <p:cNvPr id="3" name="Front cover" descr="cover-001.jpg"/>
          <p:cNvPicPr>
            <a:picLocks noChangeAspect="1"/>
          </p:cNvPicPr>
          <p:nvPr/>
        </p:nvPicPr>
        <p:blipFill>
          <a:blip r:embed="rId2"/>
          <a:stretch>
            <a:fillRect/>
          </a:stretch>
        </p:blipFill>
        <p:spPr>
          <a:xfrm>
            <a:off x="2331720" y="1188720"/>
            <a:ext cx="2794515" cy="4343400"/>
          </a:xfrm>
          <a:prstGeom prst="rect">
            <a:avLst/>
          </a:prstGeom>
        </p:spPr>
      </p:pic>
      <p:pic>
        <p:nvPicPr>
          <p:cNvPr id="4" name="Back cover" descr="back-200.jpg"/>
          <p:cNvPicPr>
            <a:picLocks noChangeAspect="1"/>
          </p:cNvPicPr>
          <p:nvPr/>
        </p:nvPicPr>
        <p:blipFill>
          <a:blip r:embed="rId3"/>
          <a:stretch>
            <a:fillRect/>
          </a:stretch>
        </p:blipFill>
        <p:spPr>
          <a:xfrm>
            <a:off x="6263640" y="1188720"/>
            <a:ext cx="2680461" cy="4343400"/>
          </a:xfrm>
          <a:prstGeom prst="rect">
            <a:avLst/>
          </a:prstGeom>
        </p:spPr>
      </p:pic>
      <p:sp>
        <p:nvSpPr>
          <p:cNvPr id="5" name="Caption"/>
          <p:cNvSpPr txBox="1"/>
          <p:nvPr/>
        </p:nvSpPr>
        <p:spPr>
          <a:xfrm>
            <a:off x="1371600" y="5623560"/>
            <a:ext cx="9445752" cy="640080"/>
          </a:xfrm>
          <a:prstGeom prst="rect">
            <a:avLst/>
          </a:prstGeom>
          <a:noFill/>
        </p:spPr>
        <p:txBody>
          <a:bodyPr wrap="square">
            <a:spAutoFit/>
          </a:bodyPr>
          <a:lstStyle/>
          <a:p>
            <a:pPr algn="ctr"/>
            <a:r>
              <a:rPr sz="1600" b="0" u="none" i="0">
                <a:solidFill>
                  <a:schemeClr val="bg1"/>
                </a:solidFill>
                <a:latin typeface="Arial"/>
                <a:cs typeface="Arial"/>
              </a:rPr>
              <a:t>Pictures showing the front and back covers of the book “Commando: Winning the Green Beret”</a:t>
            </a:r>
          </a:p>
          <a:p>
            <a:pPr algn="ctr"/>
            <a:r>
              <a:rPr sz="1200" b="0" u="none" i="0">
                <a:solidFill>
                  <a:schemeClr val="bg1"/>
                </a:solidFill>
                <a:latin typeface="Arial"/>
                <a:cs typeface="Arial"/>
              </a:rPr>
              <a:t>Source: McManners, H. (1994). Commando: Winning the Green Beret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OVERVIEW OF THE BOOK (CONT)</a:t>
            </a:r>
          </a:p>
        </p:txBody>
      </p:sp>
      <p:sp>
        <p:nvSpPr>
          <p:cNvPr id="3" name="Content"/>
          <p:cNvSpPr txBox="1"/>
          <p:nvPr/>
        </p:nvSpPr>
        <p:spPr>
          <a:xfrm>
            <a:off x="731520" y="1234440"/>
            <a:ext cx="6766560" cy="5029200"/>
          </a:xfrm>
          <a:prstGeom prst="rect">
            <a:avLst/>
          </a:prstGeom>
          <a:noFill/>
        </p:spPr>
        <p:txBody>
          <a:bodyPr wrap="square">
            <a:spAutoFit/>
          </a:bodyPr>
          <a:lstStyle/>
          <a:p>
            <a:pPr marL="457200" indent="-457200" algn="l">
              <a:spcAft>
                <a:spcPts val="600"/>
              </a:spcAft>
              <a:buFont typeface="Arial"/>
              <a:buChar char="•"/>
            </a:pPr>
            <a:r>
              <a:rPr sz="2400" b="0" u="none" i="0">
                <a:solidFill>
                  <a:schemeClr val="bg1"/>
                </a:solidFill>
                <a:latin typeface="Arial"/>
                <a:cs typeface="Arial"/>
              </a:rPr>
              <a:t>Author: Hugh McManners</a:t>
            </a:r>
          </a:p>
          <a:p>
            <a:pPr marL="457200" indent="-457200" algn="l">
              <a:spcAft>
                <a:spcPts val="600"/>
              </a:spcAft>
              <a:buFont typeface="Arial"/>
              <a:buChar char="•"/>
            </a:pPr>
            <a:r>
              <a:rPr sz="2400" b="0" u="none" i="0">
                <a:solidFill>
                  <a:schemeClr val="bg1"/>
                </a:solidFill>
                <a:latin typeface="Arial"/>
                <a:cs typeface="Arial"/>
              </a:rPr>
              <a:t>Year Published: 1994</a:t>
            </a:r>
          </a:p>
          <a:p>
            <a:pPr marL="457200" indent="-457200" algn="l">
              <a:spcAft>
                <a:spcPts val="600"/>
              </a:spcAft>
              <a:buFont typeface="Arial"/>
              <a:buChar char="•"/>
            </a:pPr>
            <a:r>
              <a:rPr sz="2400" b="0" u="none" i="0">
                <a:solidFill>
                  <a:schemeClr val="bg1"/>
                </a:solidFill>
                <a:latin typeface="Arial"/>
                <a:cs typeface="Arial"/>
              </a:rPr>
              <a:t>Publisher: Network Books (BBC Books)</a:t>
            </a:r>
          </a:p>
          <a:p>
            <a:pPr marL="457200" indent="-457200" algn="l">
              <a:spcAft>
                <a:spcPts val="600"/>
              </a:spcAft>
              <a:buFont typeface="Arial"/>
              <a:buChar char="•"/>
            </a:pPr>
            <a:r>
              <a:rPr sz="2400" b="0" u="none" i="0">
                <a:solidFill>
                  <a:schemeClr val="bg1"/>
                </a:solidFill>
                <a:latin typeface="Arial"/>
                <a:cs typeface="Arial"/>
              </a:rPr>
              <a:t>Place of Publishing: London, Great Britain</a:t>
            </a:r>
          </a:p>
          <a:p>
            <a:pPr marL="457200" indent="-457200" algn="l">
              <a:spcAft>
                <a:spcPts val="600"/>
              </a:spcAft>
              <a:buFont typeface="Arial"/>
              <a:buChar char="•"/>
            </a:pPr>
            <a:r>
              <a:rPr sz="2400" b="0" u="none" i="0">
                <a:solidFill>
                  <a:schemeClr val="bg1"/>
                </a:solidFill>
                <a:latin typeface="Arial"/>
                <a:cs typeface="Arial"/>
              </a:rPr>
              <a:t>ISBN: 0-563-36981-7</a:t>
            </a:r>
          </a:p>
          <a:p>
            <a:pPr marL="457200" indent="-457200" algn="l">
              <a:spcAft>
                <a:spcPts val="600"/>
              </a:spcAft>
              <a:buFont typeface="Arial"/>
              <a:buChar char="•"/>
            </a:pPr>
            <a:r>
              <a:rPr sz="2400" b="0" u="none" i="0">
                <a:solidFill>
                  <a:schemeClr val="bg1"/>
                </a:solidFill>
                <a:latin typeface="Arial"/>
                <a:cs typeface="Arial"/>
              </a:rPr>
              <a:t>Format: Hardcover</a:t>
            </a:r>
          </a:p>
          <a:p>
            <a:pPr marL="457200" indent="-457200" algn="l">
              <a:spcAft>
                <a:spcPts val="600"/>
              </a:spcAft>
              <a:buFont typeface="Arial"/>
              <a:buChar char="•"/>
            </a:pPr>
            <a:r>
              <a:rPr sz="2400" b="0" u="none" i="0">
                <a:solidFill>
                  <a:schemeClr val="bg1"/>
                </a:solidFill>
                <a:latin typeface="Arial"/>
                <a:cs typeface="Arial"/>
              </a:rPr>
              <a:t>Number of pages: 192</a:t>
            </a:r>
          </a:p>
          <a:p>
            <a:pPr marL="457200" indent="-457200" algn="l">
              <a:spcAft>
                <a:spcPts val="600"/>
              </a:spcAft>
              <a:buFont typeface="Arial"/>
              <a:buChar char="•"/>
            </a:pPr>
            <a:r>
              <a:rPr sz="2400" b="0" u="none" i="0">
                <a:solidFill>
                  <a:schemeClr val="bg1"/>
                </a:solidFill>
                <a:latin typeface="Arial"/>
                <a:cs typeface="Arial"/>
              </a:rPr>
              <a:t>Release Language: English</a:t>
            </a:r>
          </a:p>
          <a:p>
            <a:pPr marL="457200" indent="-457200" algn="l">
              <a:spcAft>
                <a:spcPts val="600"/>
              </a:spcAft>
              <a:buFont typeface="Arial"/>
              <a:buChar char="•"/>
            </a:pPr>
            <a:r>
              <a:rPr sz="2400" b="0" u="none" i="0">
                <a:solidFill>
                  <a:schemeClr val="bg1"/>
                </a:solidFill>
                <a:latin typeface="Arial"/>
                <a:cs typeface="Arial"/>
              </a:rPr>
              <a:t>Price: from £2.75 (Amazon, used)</a:t>
            </a:r>
          </a:p>
        </p:txBody>
      </p:sp>
      <p:pic>
        <p:nvPicPr>
          <p:cNvPr id="4" name="Front cover" descr="cover-001.jpg"/>
          <p:cNvPicPr>
            <a:picLocks noChangeAspect="1"/>
          </p:cNvPicPr>
          <p:nvPr/>
        </p:nvPicPr>
        <p:blipFill>
          <a:blip r:embed="rId2"/>
          <a:stretch>
            <a:fillRect/>
          </a:stretch>
        </p:blipFill>
        <p:spPr>
          <a:xfrm>
            <a:off x="8001000" y="1234440"/>
            <a:ext cx="3176922" cy="493776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914400" y="2651760"/>
            <a:ext cx="10360152" cy="1463040"/>
          </a:xfrm>
          <a:prstGeom prst="rect">
            <a:avLst/>
          </a:prstGeom>
          <a:noFill/>
        </p:spPr>
        <p:txBody>
          <a:bodyPr wrap="square" anchor="ctr">
            <a:spAutoFit/>
          </a:bodyPr>
          <a:lstStyle/>
          <a:p>
            <a:pPr algn="ctr"/>
            <a:r>
              <a:rPr sz="3200" b="0" u="none" i="0">
                <a:solidFill>
                  <a:schemeClr val="bg1"/>
                </a:solidFill>
                <a:latin typeface="Arial"/>
                <a:cs typeface="Arial"/>
              </a:rPr>
              <a:t>SUMMARY OF THE BOOK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SUMMARY OF THE BOOK (CONT)</a:t>
            </a:r>
          </a:p>
        </p:txBody>
      </p:sp>
      <p:sp>
        <p:nvSpPr>
          <p:cNvPr id="3" name="Content"/>
          <p:cNvSpPr txBox="1"/>
          <p:nvPr/>
        </p:nvSpPr>
        <p:spPr>
          <a:xfrm>
            <a:off x="822960" y="1371600"/>
            <a:ext cx="10515600" cy="5029200"/>
          </a:xfrm>
          <a:prstGeom prst="rect">
            <a:avLst/>
          </a:prstGeom>
          <a:noFill/>
        </p:spPr>
        <p:txBody>
          <a:bodyPr wrap="square">
            <a:spAutoFit/>
          </a:bodyPr>
          <a:lstStyle/>
          <a:p>
            <a:pPr algn="l">
              <a:spcAft>
                <a:spcPts val="1600"/>
              </a:spcAft>
              <a:buNone/>
            </a:pPr>
            <a:r>
              <a:rPr sz="2800" b="0" u="none" i="0">
                <a:solidFill>
                  <a:schemeClr val="bg1"/>
                </a:solidFill>
                <a:latin typeface="Arial"/>
                <a:cs typeface="Arial"/>
              </a:rPr>
              <a:t>Introduction</a:t>
            </a:r>
          </a:p>
          <a:p>
            <a:pPr algn="l">
              <a:spcAft>
                <a:spcPts val="1600"/>
              </a:spcAft>
              <a:buNone/>
            </a:pPr>
            <a:r>
              <a:rPr sz="2800" b="0" u="none" i="0">
                <a:solidFill>
                  <a:schemeClr val="bg1"/>
                </a:solidFill>
                <a:latin typeface="Arial"/>
                <a:cs typeface="Arial"/>
              </a:rPr>
              <a:t>Chapter 1: All Arms, Volunteer Commandos</a:t>
            </a:r>
          </a:p>
          <a:p>
            <a:pPr algn="l">
              <a:spcAft>
                <a:spcPts val="1600"/>
              </a:spcAft>
              <a:buNone/>
            </a:pPr>
            <a:r>
              <a:rPr sz="2800" b="0" u="none" i="0">
                <a:solidFill>
                  <a:schemeClr val="bg1"/>
                </a:solidFill>
                <a:latin typeface="Arial"/>
                <a:cs typeface="Arial"/>
              </a:rPr>
              <a:t>Chapter 2: Dawn Assault</a:t>
            </a:r>
          </a:p>
          <a:p>
            <a:pPr algn="l">
              <a:spcAft>
                <a:spcPts val="1600"/>
              </a:spcAft>
              <a:buNone/>
            </a:pPr>
            <a:r>
              <a:rPr sz="2800" b="0" u="none" i="0">
                <a:solidFill>
                  <a:schemeClr val="bg1"/>
                </a:solidFill>
                <a:latin typeface="Arial"/>
                <a:cs typeface="Arial"/>
              </a:rPr>
              <a:t>Chapter 3: Ambush</a:t>
            </a:r>
          </a:p>
          <a:p>
            <a:pPr algn="l">
              <a:spcAft>
                <a:spcPts val="1600"/>
              </a:spcAft>
              <a:buNone/>
            </a:pPr>
            <a:r>
              <a:rPr sz="2800" b="0" u="none" i="0">
                <a:solidFill>
                  <a:schemeClr val="bg1"/>
                </a:solidFill>
                <a:latin typeface="Arial"/>
                <a:cs typeface="Arial"/>
              </a:rPr>
              <a:t>Chapter 4: 638 Troop – Dartmoor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SUMMARY OF THE BOOK (CONT)</a:t>
            </a:r>
          </a:p>
        </p:txBody>
      </p:sp>
      <p:sp>
        <p:nvSpPr>
          <p:cNvPr id="3" name="Content"/>
          <p:cNvSpPr txBox="1"/>
          <p:nvPr/>
        </p:nvSpPr>
        <p:spPr>
          <a:xfrm>
            <a:off x="822960" y="1371600"/>
            <a:ext cx="10515600" cy="5029200"/>
          </a:xfrm>
          <a:prstGeom prst="rect">
            <a:avLst/>
          </a:prstGeom>
          <a:noFill/>
        </p:spPr>
        <p:txBody>
          <a:bodyPr wrap="square">
            <a:spAutoFit/>
          </a:bodyPr>
          <a:lstStyle/>
          <a:p>
            <a:pPr algn="l">
              <a:spcAft>
                <a:spcPts val="1600"/>
              </a:spcAft>
              <a:buNone/>
            </a:pPr>
            <a:r>
              <a:rPr sz="2800" b="0" u="none" i="0">
                <a:solidFill>
                  <a:schemeClr val="bg1"/>
                </a:solidFill>
                <a:latin typeface="Arial"/>
                <a:cs typeface="Arial"/>
              </a:rPr>
              <a:t>Chapter 5: The Reckoning</a:t>
            </a:r>
          </a:p>
          <a:p>
            <a:pPr algn="l">
              <a:spcAft>
                <a:spcPts val="1600"/>
              </a:spcAft>
              <a:buNone/>
            </a:pPr>
            <a:r>
              <a:rPr sz="2800" b="0" u="none" i="0">
                <a:solidFill>
                  <a:schemeClr val="bg1"/>
                </a:solidFill>
                <a:latin typeface="Arial"/>
                <a:cs typeface="Arial"/>
              </a:rPr>
              <a:t>Chapter 6: 638 Troop – Commando Tests</a:t>
            </a:r>
          </a:p>
          <a:p>
            <a:pPr algn="l">
              <a:spcAft>
                <a:spcPts val="1600"/>
              </a:spcAft>
              <a:buNone/>
            </a:pPr>
            <a:r>
              <a:rPr sz="2800" b="0" u="none" i="0">
                <a:solidFill>
                  <a:schemeClr val="bg1"/>
                </a:solidFill>
                <a:latin typeface="Arial"/>
                <a:cs typeface="Arial"/>
              </a:rPr>
              <a:t>Chapter 7: The End of the Road</a:t>
            </a:r>
          </a:p>
          <a:p>
            <a:pPr algn="l">
              <a:spcAft>
                <a:spcPts val="1600"/>
              </a:spcAft>
              <a:buNone/>
            </a:pPr>
            <a:r>
              <a:rPr sz="2800" b="0" u="none" i="0">
                <a:solidFill>
                  <a:schemeClr val="bg1"/>
                </a:solidFill>
                <a:latin typeface="Arial"/>
                <a:cs typeface="Arial"/>
              </a:rPr>
              <a:t>Epilogue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SUMMARY OF THE BOOK (CONT)</a:t>
            </a:r>
          </a:p>
        </p:txBody>
      </p:sp>
      <p:pic>
        <p:nvPicPr>
          <p:cNvPr id="3" name="Raiders" descr="raiders.jpg"/>
          <p:cNvPicPr>
            <a:picLocks noChangeAspect="1"/>
          </p:cNvPicPr>
          <p:nvPr/>
        </p:nvPicPr>
        <p:blipFill>
          <a:blip r:embed="rId2"/>
          <a:stretch>
            <a:fillRect/>
          </a:stretch>
        </p:blipFill>
        <p:spPr>
          <a:xfrm>
            <a:off x="1966087" y="1143000"/>
            <a:ext cx="2880106" cy="2103120"/>
          </a:xfrm>
          <a:prstGeom prst="rect">
            <a:avLst/>
          </a:prstGeom>
        </p:spPr>
      </p:pic>
      <p:pic>
        <p:nvPicPr>
          <p:cNvPr id="4" name="Jaftha" descr="jaftha.jpg"/>
          <p:cNvPicPr>
            <a:picLocks noChangeAspect="1"/>
          </p:cNvPicPr>
          <p:nvPr/>
        </p:nvPicPr>
        <p:blipFill>
          <a:blip r:embed="rId3"/>
          <a:stretch>
            <a:fillRect/>
          </a:stretch>
        </p:blipFill>
        <p:spPr>
          <a:xfrm>
            <a:off x="7317643" y="1143000"/>
            <a:ext cx="2875472" cy="2103119"/>
          </a:xfrm>
          <a:prstGeom prst="rect">
            <a:avLst/>
          </a:prstGeom>
        </p:spPr>
      </p:pic>
      <p:pic>
        <p:nvPicPr>
          <p:cNvPr id="5" name="All Arms" descr="allarms.jpg"/>
          <p:cNvPicPr>
            <a:picLocks noChangeAspect="1"/>
          </p:cNvPicPr>
          <p:nvPr/>
        </p:nvPicPr>
        <p:blipFill>
          <a:blip r:embed="rId4"/>
          <a:stretch>
            <a:fillRect/>
          </a:stretch>
        </p:blipFill>
        <p:spPr>
          <a:xfrm>
            <a:off x="1808655" y="3429000"/>
            <a:ext cx="3194969" cy="2103120"/>
          </a:xfrm>
          <a:prstGeom prst="rect">
            <a:avLst/>
          </a:prstGeom>
        </p:spPr>
      </p:pic>
      <p:pic>
        <p:nvPicPr>
          <p:cNvPr id="6" name="Berets" descr="berets.jpg"/>
          <p:cNvPicPr>
            <a:picLocks noChangeAspect="1"/>
          </p:cNvPicPr>
          <p:nvPr/>
        </p:nvPicPr>
        <p:blipFill>
          <a:blip r:embed="rId5"/>
          <a:stretch>
            <a:fillRect/>
          </a:stretch>
        </p:blipFill>
        <p:spPr>
          <a:xfrm>
            <a:off x="6723339" y="3429000"/>
            <a:ext cx="4064080" cy="2103120"/>
          </a:xfrm>
          <a:prstGeom prst="rect">
            <a:avLst/>
          </a:prstGeom>
        </p:spPr>
      </p:pic>
      <p:sp>
        <p:nvSpPr>
          <p:cNvPr id="7" name="Caption"/>
          <p:cNvSpPr txBox="1"/>
          <p:nvPr/>
        </p:nvSpPr>
        <p:spPr>
          <a:xfrm>
            <a:off x="411480" y="5669280"/>
            <a:ext cx="11338560" cy="640080"/>
          </a:xfrm>
          <a:prstGeom prst="rect">
            <a:avLst/>
          </a:prstGeom>
          <a:noFill/>
        </p:spPr>
        <p:txBody>
          <a:bodyPr wrap="square">
            <a:spAutoFit/>
          </a:bodyPr>
          <a:lstStyle/>
          <a:p>
            <a:pPr algn="ctr"/>
            <a:r>
              <a:rPr sz="1400" b="0" u="none" i="0">
                <a:solidFill>
                  <a:schemeClr val="bg1"/>
                </a:solidFill>
                <a:latin typeface="Arial"/>
                <a:cs typeface="Arial"/>
              </a:rPr>
              <a:t>Scenes from the book: assault landing at Poole, Recruit Jaftha at the chasm, All Arms 4/92 on Dartmoor and new Green Berets</a:t>
            </a:r>
          </a:p>
          <a:p>
            <a:pPr algn="ctr"/>
            <a:r>
              <a:rPr sz="1200" b="0" u="none" i="0">
                <a:solidFill>
                  <a:schemeClr val="bg1"/>
                </a:solidFill>
                <a:latin typeface="Arial"/>
                <a:cs typeface="Arial"/>
              </a:rPr>
              <a:t>Source: McManners, H. (1994). Commando: Winning the Green Beret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914400" y="2651760"/>
            <a:ext cx="10360152" cy="1463040"/>
          </a:xfrm>
          <a:prstGeom prst="rect">
            <a:avLst/>
          </a:prstGeom>
          <a:noFill/>
        </p:spPr>
        <p:txBody>
          <a:bodyPr wrap="square" anchor="ctr">
            <a:spAutoFit/>
          </a:bodyPr>
          <a:lstStyle/>
          <a:p>
            <a:pPr algn="ctr"/>
            <a:r>
              <a:rPr sz="3200" b="0" u="none" i="0">
                <a:solidFill>
                  <a:schemeClr val="bg1"/>
                </a:solidFill>
                <a:latin typeface="Arial"/>
                <a:cs typeface="Arial"/>
              </a:rPr>
              <a:t>EVALUATION OF THE BOOK</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EVALUATION OF THE BOOK (CONT)</a:t>
            </a:r>
          </a:p>
        </p:txBody>
      </p:sp>
      <p:sp>
        <p:nvSpPr>
          <p:cNvPr id="3" name="Content"/>
          <p:cNvSpPr txBox="1"/>
          <p:nvPr/>
        </p:nvSpPr>
        <p:spPr>
          <a:xfrm>
            <a:off x="1097280" y="1188720"/>
            <a:ext cx="9601200" cy="5029200"/>
          </a:xfrm>
          <a:prstGeom prst="rect">
            <a:avLst/>
          </a:prstGeom>
          <a:noFill/>
        </p:spPr>
        <p:txBody>
          <a:bodyPr wrap="square">
            <a:spAutoFit/>
          </a:bodyPr>
          <a:lstStyle/>
          <a:p>
            <a:pPr marL="571500" indent="-571500" algn="l">
              <a:spcAft>
                <a:spcPts val="600"/>
              </a:spcAft>
              <a:buFont typeface="Arial"/>
              <a:buAutoNum type="arabicPeriod"/>
            </a:pPr>
            <a:r>
              <a:rPr sz="2600" b="0" u="none" i="0">
                <a:solidFill>
                  <a:schemeClr val="bg1"/>
                </a:solidFill>
                <a:latin typeface="Arial"/>
                <a:cs typeface="Arial"/>
              </a:rPr>
              <a:t>Significance of the Book.</a:t>
            </a:r>
          </a:p>
          <a:p>
            <a:pPr marL="571500" indent="-571500" algn="l">
              <a:spcAft>
                <a:spcPts val="600"/>
              </a:spcAft>
              <a:buFont typeface="Arial"/>
              <a:buAutoNum type="arabicPeriod"/>
            </a:pPr>
            <a:r>
              <a:rPr sz="2600" b="0" u="none" i="0">
                <a:solidFill>
                  <a:schemeClr val="bg1"/>
                </a:solidFill>
                <a:latin typeface="Arial"/>
                <a:cs typeface="Arial"/>
              </a:rPr>
              <a:t>Materials Used.</a:t>
            </a:r>
          </a:p>
          <a:p>
            <a:pPr marL="571500" indent="-571500" algn="l">
              <a:spcAft>
                <a:spcPts val="600"/>
              </a:spcAft>
              <a:buFont typeface="Arial"/>
              <a:buAutoNum type="arabicPeriod"/>
            </a:pPr>
            <a:r>
              <a:rPr sz="2600" b="0" u="none" i="0">
                <a:solidFill>
                  <a:schemeClr val="bg1"/>
                </a:solidFill>
                <a:latin typeface="Arial"/>
                <a:cs typeface="Arial"/>
              </a:rPr>
              <a:t>Facts Presented.</a:t>
            </a:r>
          </a:p>
          <a:p>
            <a:pPr marL="571500" indent="-571500" algn="l">
              <a:spcAft>
                <a:spcPts val="600"/>
              </a:spcAft>
              <a:buFont typeface="Arial"/>
              <a:buAutoNum type="arabicPeriod"/>
            </a:pPr>
            <a:r>
              <a:rPr sz="2600" b="0" u="none" i="0">
                <a:solidFill>
                  <a:schemeClr val="bg1"/>
                </a:solidFill>
                <a:latin typeface="Arial"/>
                <a:cs typeface="Arial"/>
              </a:rPr>
              <a:t>Clarity.</a:t>
            </a:r>
          </a:p>
          <a:p>
            <a:pPr marL="571500" indent="-571500" algn="l">
              <a:spcAft>
                <a:spcPts val="600"/>
              </a:spcAft>
              <a:buFont typeface="Arial"/>
              <a:buAutoNum type="arabicPeriod"/>
            </a:pPr>
            <a:r>
              <a:rPr sz="2600" b="0" u="none" i="0">
                <a:solidFill>
                  <a:schemeClr val="bg1"/>
                </a:solidFill>
                <a:latin typeface="Arial"/>
                <a:cs typeface="Arial"/>
              </a:rPr>
              <a:t>Readability.</a:t>
            </a:r>
          </a:p>
          <a:p>
            <a:pPr marL="571500" indent="-571500" algn="l">
              <a:spcAft>
                <a:spcPts val="600"/>
              </a:spcAft>
              <a:buFont typeface="Arial"/>
              <a:buAutoNum type="arabicPeriod"/>
            </a:pPr>
            <a:r>
              <a:rPr sz="2600" b="0" u="none" i="0">
                <a:solidFill>
                  <a:schemeClr val="bg1"/>
                </a:solidFill>
                <a:latin typeface="Arial"/>
                <a:cs typeface="Arial"/>
              </a:rPr>
              <a:t>Mental Stimulation.</a:t>
            </a:r>
          </a:p>
          <a:p>
            <a:pPr marL="571500" indent="-571500" algn="l">
              <a:spcAft>
                <a:spcPts val="600"/>
              </a:spcAft>
              <a:buFont typeface="Arial"/>
              <a:buAutoNum type="arabicPeriod"/>
            </a:pPr>
            <a:r>
              <a:rPr sz="2600" b="0" u="none" i="0">
                <a:solidFill>
                  <a:schemeClr val="bg1"/>
                </a:solidFill>
                <a:latin typeface="Arial"/>
                <a:cs typeface="Arial"/>
              </a:rPr>
              <a:t>Broad-mindedness.</a:t>
            </a:r>
          </a:p>
          <a:p>
            <a:pPr marL="571500" indent="-571500" algn="l">
              <a:spcAft>
                <a:spcPts val="600"/>
              </a:spcAft>
              <a:buFont typeface="Arial"/>
              <a:buAutoNum type="arabicPeriod"/>
            </a:pPr>
            <a:r>
              <a:rPr sz="2600" b="0" u="none" i="0">
                <a:solidFill>
                  <a:schemeClr val="bg1"/>
                </a:solidFill>
                <a:latin typeface="Arial"/>
                <a:cs typeface="Arial"/>
              </a:rPr>
              <a:t>Inspiration.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914400" y="2651760"/>
            <a:ext cx="10360152" cy="1463040"/>
          </a:xfrm>
          <a:prstGeom prst="rect">
            <a:avLst/>
          </a:prstGeom>
          <a:noFill/>
        </p:spPr>
        <p:txBody>
          <a:bodyPr wrap="square" anchor="ctr">
            <a:spAutoFit/>
          </a:bodyPr>
          <a:lstStyle/>
          <a:p>
            <a:pPr algn="ctr"/>
            <a:r>
              <a:rPr sz="3200" b="0" u="none" i="0">
                <a:solidFill>
                  <a:schemeClr val="bg1"/>
                </a:solidFill>
                <a:latin typeface="Arial"/>
                <a:cs typeface="Arial"/>
              </a:rPr>
              <a:t>LESSONS LEARNT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LESSONS LEARNT (CONT)</a:t>
            </a:r>
          </a:p>
        </p:txBody>
      </p:sp>
      <p:sp>
        <p:nvSpPr>
          <p:cNvPr id="3" name="Content"/>
          <p:cNvSpPr txBox="1"/>
          <p:nvPr/>
        </p:nvSpPr>
        <p:spPr>
          <a:xfrm>
            <a:off x="548640" y="1234440"/>
            <a:ext cx="11064240" cy="5029200"/>
          </a:xfrm>
          <a:prstGeom prst="rect">
            <a:avLst/>
          </a:prstGeom>
          <a:noFill/>
        </p:spPr>
        <p:txBody>
          <a:bodyPr wrap="square">
            <a:spAutoFit/>
          </a:bodyPr>
          <a:lstStyle/>
          <a:p>
            <a:pPr marL="457200" indent="-457200" algn="just">
              <a:spcAft>
                <a:spcPts val="1800"/>
              </a:spcAft>
              <a:buFont typeface="Arial"/>
              <a:buChar char="•"/>
            </a:pPr>
            <a:r>
              <a:rPr sz="2400" b="0" u="none" i="0">
                <a:solidFill>
                  <a:schemeClr val="bg1"/>
                </a:solidFill>
                <a:latin typeface="Arial"/>
                <a:cs typeface="Arial"/>
              </a:rPr>
              <a:t>Demonstrates that mental resilience, not physical strength alone, decides success under cold, fatigue and stress.</a:t>
            </a:r>
          </a:p>
          <a:p>
            <a:pPr marL="457200" indent="-457200" algn="just">
              <a:spcAft>
                <a:spcPts val="1800"/>
              </a:spcAft>
              <a:buFont typeface="Arial"/>
              <a:buChar char="•"/>
            </a:pPr>
            <a:r>
              <a:rPr sz="2400" b="0" u="none" i="0">
                <a:solidFill>
                  <a:schemeClr val="bg1"/>
                </a:solidFill>
                <a:latin typeface="Arial"/>
                <a:cs typeface="Arial"/>
              </a:rPr>
              <a:t>Underscores that personal administration and attention to detail are combat skills on which operational effectiveness depends.</a:t>
            </a:r>
          </a:p>
          <a:p>
            <a:pPr marL="457200" indent="-457200" algn="just">
              <a:spcAft>
                <a:spcPts val="1800"/>
              </a:spcAft>
              <a:buFont typeface="Arial"/>
              <a:buChar char="•"/>
            </a:pPr>
            <a:r>
              <a:rPr sz="2400" b="0" u="none" i="0">
                <a:solidFill>
                  <a:schemeClr val="bg1"/>
                </a:solidFill>
                <a:latin typeface="Arial"/>
                <a:cs typeface="Arial"/>
              </a:rPr>
              <a:t>Shows that common standards build trust and interoperability in joint and multinational operations, as in GAF peace support missions.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57200"/>
            <a:ext cx="10085832" cy="594360"/>
          </a:xfrm>
          <a:prstGeom prst="rect">
            <a:avLst/>
          </a:prstGeom>
          <a:noFill/>
        </p:spPr>
        <p:txBody>
          <a:bodyPr wrap="square" anchor="ctr">
            <a:spAutoFit/>
          </a:bodyPr>
          <a:lstStyle/>
          <a:p>
            <a:pPr algn="ctr"/>
            <a:r>
              <a:rPr sz="2800" b="0" u="sng" i="0">
                <a:solidFill>
                  <a:schemeClr val="bg1"/>
                </a:solidFill>
                <a:latin typeface="Arial"/>
                <a:cs typeface="Arial"/>
              </a:rPr>
              <a:t>LESSONS LEARNT (CONT)</a:t>
            </a:r>
          </a:p>
        </p:txBody>
      </p:sp>
      <p:sp>
        <p:nvSpPr>
          <p:cNvPr id="3" name="Content"/>
          <p:cNvSpPr txBox="1"/>
          <p:nvPr/>
        </p:nvSpPr>
        <p:spPr>
          <a:xfrm>
            <a:off x="548640" y="1234440"/>
            <a:ext cx="6400800" cy="5029200"/>
          </a:xfrm>
          <a:prstGeom prst="rect">
            <a:avLst/>
          </a:prstGeom>
          <a:noFill/>
        </p:spPr>
        <p:txBody>
          <a:bodyPr wrap="square">
            <a:spAutoFit/>
          </a:bodyPr>
          <a:lstStyle/>
          <a:p>
            <a:pPr marL="457200" indent="-457200" algn="l">
              <a:spcAft>
                <a:spcPts val="1600"/>
              </a:spcAft>
              <a:buFont typeface="Arial"/>
              <a:buChar char="•"/>
            </a:pPr>
            <a:r>
              <a:rPr sz="2200" b="0" u="none" i="0">
                <a:solidFill>
                  <a:schemeClr val="bg1"/>
                </a:solidFill>
                <a:latin typeface="Arial"/>
                <a:cs typeface="Arial"/>
              </a:rPr>
              <a:t>Highlights the value of leadership that combines firmness with fairness and assesses each soldier as a whole.</a:t>
            </a:r>
          </a:p>
          <a:p>
            <a:pPr marL="457200" indent="-457200" algn="l">
              <a:spcAft>
                <a:spcPts val="1600"/>
              </a:spcAft>
              <a:buFont typeface="Arial"/>
              <a:buChar char="•"/>
            </a:pPr>
            <a:r>
              <a:rPr sz="2200" b="0" u="none" i="0">
                <a:solidFill>
                  <a:schemeClr val="bg1"/>
                </a:solidFill>
                <a:latin typeface="Arial"/>
                <a:cs typeface="Arial"/>
              </a:rPr>
              <a:t>Reveals that thorough orders, rehearsals and brief-backs sustain operations when communications fail.</a:t>
            </a:r>
          </a:p>
          <a:p>
            <a:pPr marL="457200" indent="-457200" algn="l">
              <a:spcAft>
                <a:spcPts val="1600"/>
              </a:spcAft>
              <a:buFont typeface="Arial"/>
              <a:buChar char="•"/>
            </a:pPr>
            <a:r>
              <a:rPr sz="2200" b="0" u="none" i="0">
                <a:solidFill>
                  <a:schemeClr val="bg1"/>
                </a:solidFill>
                <a:latin typeface="Arial"/>
                <a:cs typeface="Arial"/>
              </a:rPr>
              <a:t>Illustrates that integrity is the bedrock of trust within a unit.</a:t>
            </a:r>
          </a:p>
        </p:txBody>
      </p:sp>
      <p:pic>
        <p:nvPicPr>
          <p:cNvPr id="4" name="King's Squad" descr="kingsquad.jpg"/>
          <p:cNvPicPr>
            <a:picLocks noChangeAspect="1"/>
          </p:cNvPicPr>
          <p:nvPr/>
        </p:nvPicPr>
        <p:blipFill>
          <a:blip r:embed="rId2"/>
          <a:stretch>
            <a:fillRect/>
          </a:stretch>
        </p:blipFill>
        <p:spPr>
          <a:xfrm>
            <a:off x="7360920" y="1234440"/>
            <a:ext cx="4188530" cy="4206240"/>
          </a:xfrm>
          <a:prstGeom prst="rect">
            <a:avLst/>
          </a:prstGeom>
        </p:spPr>
      </p:pic>
      <p:sp>
        <p:nvSpPr>
          <p:cNvPr id="5" name="Caption"/>
          <p:cNvSpPr txBox="1"/>
          <p:nvPr/>
        </p:nvSpPr>
        <p:spPr>
          <a:xfrm>
            <a:off x="7040880" y="5486400"/>
            <a:ext cx="4754880" cy="640080"/>
          </a:xfrm>
          <a:prstGeom prst="rect">
            <a:avLst/>
          </a:prstGeom>
          <a:noFill/>
        </p:spPr>
        <p:txBody>
          <a:bodyPr wrap="square">
            <a:spAutoFit/>
          </a:bodyPr>
          <a:lstStyle/>
          <a:p>
            <a:pPr algn="ctr"/>
            <a:r>
              <a:rPr sz="1200" b="0" u="none" i="0">
                <a:solidFill>
                  <a:schemeClr val="bg1"/>
                </a:solidFill>
                <a:latin typeface="Arial"/>
                <a:cs typeface="Arial"/>
              </a:rPr>
              <a:t>638 Troop, the King’s Squad, with their training team</a:t>
            </a:r>
          </a:p>
          <a:p>
            <a:pPr algn="ctr"/>
            <a:r>
              <a:rPr sz="1000" b="0" u="none" i="0">
                <a:solidFill>
                  <a:schemeClr val="bg1"/>
                </a:solidFill>
                <a:latin typeface="Arial"/>
                <a:cs typeface="Arial"/>
              </a:rPr>
              <a:t>Source: McManners, H. (1994). Commando: Winning the Green Beret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914400" y="2651760"/>
            <a:ext cx="10360152" cy="1463040"/>
          </a:xfrm>
          <a:prstGeom prst="rect">
            <a:avLst/>
          </a:prstGeom>
          <a:noFill/>
        </p:spPr>
        <p:txBody>
          <a:bodyPr wrap="square" anchor="ctr">
            <a:spAutoFit/>
          </a:bodyPr>
          <a:lstStyle/>
          <a:p>
            <a:pPr algn="ctr"/>
            <a:r>
              <a:rPr sz="3200" b="0" u="none" i="0">
                <a:solidFill>
                  <a:schemeClr val="bg1"/>
                </a:solidFill>
                <a:latin typeface="Arial"/>
                <a:cs typeface="Arial"/>
              </a:rPr>
              <a:t>CONCLUSION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914400" y="2651760"/>
            <a:ext cx="10360152" cy="1463040"/>
          </a:xfrm>
          <a:prstGeom prst="rect">
            <a:avLst/>
          </a:prstGeom>
          <a:noFill/>
        </p:spPr>
        <p:txBody>
          <a:bodyPr wrap="square" anchor="ctr">
            <a:spAutoFit/>
          </a:bodyPr>
          <a:lstStyle/>
          <a:p>
            <a:pPr algn="ctr"/>
            <a:r>
              <a:rPr sz="3200" b="0" u="none" i="0">
                <a:solidFill>
                  <a:schemeClr val="bg1"/>
                </a:solidFill>
                <a:latin typeface="Arial"/>
                <a:cs typeface="Arial"/>
              </a:rPr>
              <a:t>THANK YOU</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051560" y="411480"/>
            <a:ext cx="10085832" cy="594360"/>
          </a:xfrm>
          <a:prstGeom prst="rect">
            <a:avLst/>
          </a:prstGeom>
          <a:noFill/>
        </p:spPr>
        <p:txBody>
          <a:bodyPr wrap="square" anchor="ctr">
            <a:spAutoFit/>
          </a:bodyPr>
          <a:lstStyle/>
          <a:p>
            <a:pPr algn="ctr"/>
            <a:r>
              <a:rPr sz="2800" b="0" u="sng" i="0">
                <a:solidFill>
                  <a:schemeClr val="bg1"/>
                </a:solidFill>
                <a:latin typeface="Arial"/>
                <a:cs typeface="Arial"/>
              </a:rPr>
              <a:t>REFERENCES</a:t>
            </a:r>
          </a:p>
        </p:txBody>
      </p:sp>
      <p:sp>
        <p:nvSpPr>
          <p:cNvPr id="3" name="Content"/>
          <p:cNvSpPr txBox="1"/>
          <p:nvPr/>
        </p:nvSpPr>
        <p:spPr>
          <a:xfrm>
            <a:off x="365760" y="1097280"/>
            <a:ext cx="11430000" cy="5029200"/>
          </a:xfrm>
          <a:prstGeom prst="rect">
            <a:avLst/>
          </a:prstGeom>
          <a:noFill/>
        </p:spPr>
        <p:txBody>
          <a:bodyPr wrap="square">
            <a:spAutoFit/>
          </a:bodyPr>
          <a:lstStyle/>
          <a:p>
            <a:pPr marL="571500" indent="-571500" algn="l">
              <a:spcAft>
                <a:spcPts val="600"/>
              </a:spcAft>
              <a:buFont typeface="Arial"/>
              <a:buAutoNum type="arabicPeriod"/>
            </a:pPr>
            <a:r>
              <a:rPr sz="1600" b="0" u="none" i="0">
                <a:solidFill>
                  <a:schemeClr val="bg1"/>
                </a:solidFill>
                <a:latin typeface="Arial"/>
                <a:cs typeface="Arial"/>
              </a:rPr>
              <a:t>Commando Veterans Archive. (n.d.). Falklands Campaign – Mention in Despatches. Retrieved from: https://www.commandoveterans.org/node/5568</a:t>
            </a:r>
          </a:p>
          <a:p>
            <a:pPr marL="571500" indent="-571500" algn="l">
              <a:spcAft>
                <a:spcPts val="600"/>
              </a:spcAft>
              <a:buFont typeface="Arial"/>
              <a:buAutoNum type="arabicPeriod"/>
            </a:pPr>
            <a:r>
              <a:rPr sz="1600" b="0" u="none" i="0">
                <a:solidFill>
                  <a:schemeClr val="bg1"/>
                </a:solidFill>
                <a:latin typeface="Arial"/>
                <a:cs typeface="Arial"/>
              </a:rPr>
              <a:t>Commando Veterans Archive. (2013). The Four Commando Tests. Retrieved from: https://www.commandoveterans.org/node/5093</a:t>
            </a:r>
          </a:p>
          <a:p>
            <a:pPr marL="571500" indent="-571500" algn="l">
              <a:spcAft>
                <a:spcPts val="600"/>
              </a:spcAft>
              <a:buFont typeface="Arial"/>
              <a:buAutoNum type="arabicPeriod"/>
            </a:pPr>
            <a:r>
              <a:rPr sz="1600" b="0" u="none" i="0">
                <a:solidFill>
                  <a:schemeClr val="bg1"/>
                </a:solidFill>
                <a:latin typeface="Arial"/>
                <a:cs typeface="Arial"/>
              </a:rPr>
              <a:t>McManners, H. (1994). </a:t>
            </a:r>
            <a:r>
              <a:rPr sz="1600" b="0" u="none" i="1">
                <a:solidFill>
                  <a:schemeClr val="bg1"/>
                </a:solidFill>
                <a:latin typeface="Arial"/>
                <a:cs typeface="Arial"/>
              </a:rPr>
              <a:t>Commando: Winning the Green Beret</a:t>
            </a:r>
            <a:r>
              <a:rPr sz="1600" b="0" u="none" i="0">
                <a:solidFill>
                  <a:schemeClr val="bg1"/>
                </a:solidFill>
                <a:latin typeface="Arial"/>
                <a:cs typeface="Arial"/>
              </a:rPr>
              <a:t>. London: Network Books (BBC Books).</a:t>
            </a:r>
          </a:p>
          <a:p>
            <a:pPr marL="571500" indent="-571500" algn="l">
              <a:spcAft>
                <a:spcPts val="600"/>
              </a:spcAft>
              <a:buFont typeface="Arial"/>
              <a:buAutoNum type="arabicPeriod"/>
            </a:pPr>
            <a:r>
              <a:rPr sz="1600" b="0" u="none" i="0">
                <a:solidFill>
                  <a:schemeClr val="bg1"/>
                </a:solidFill>
                <a:latin typeface="Arial"/>
                <a:cs typeface="Arial"/>
              </a:rPr>
              <a:t>Melbourne University Publishing. (n.d.). Author profile: Hugh McManners. Retrieved from: https://mup.com.au/authors/hugh-mcmanners</a:t>
            </a:r>
          </a:p>
          <a:p>
            <a:pPr marL="571500" indent="-571500" algn="l">
              <a:spcAft>
                <a:spcPts val="600"/>
              </a:spcAft>
              <a:buFont typeface="Arial"/>
              <a:buAutoNum type="arabicPeriod"/>
            </a:pPr>
            <a:r>
              <a:rPr sz="1600" b="0" u="none" i="0">
                <a:solidFill>
                  <a:schemeClr val="bg1"/>
                </a:solidFill>
                <a:latin typeface="Arial"/>
                <a:cs typeface="Arial"/>
              </a:rPr>
              <a:t>Publishers Weekly. (1995). Review of </a:t>
            </a:r>
            <a:r>
              <a:rPr sz="1600" b="0" u="none" i="1">
                <a:solidFill>
                  <a:schemeClr val="bg1"/>
                </a:solidFill>
                <a:latin typeface="Arial"/>
                <a:cs typeface="Arial"/>
              </a:rPr>
              <a:t>Commando</a:t>
            </a:r>
            <a:r>
              <a:rPr sz="1600" b="0" u="none" i="0">
                <a:solidFill>
                  <a:schemeClr val="bg1"/>
                </a:solidFill>
                <a:latin typeface="Arial"/>
                <a:cs typeface="Arial"/>
              </a:rPr>
              <a:t> by Hugh McManners. Retrieved from: https://www.publishersweekly.com/9780563369813</a:t>
            </a:r>
          </a:p>
          <a:p>
            <a:pPr marL="571500" indent="-571500" algn="l">
              <a:spcAft>
                <a:spcPts val="600"/>
              </a:spcAft>
              <a:buFont typeface="Arial"/>
              <a:buAutoNum type="arabicPeriod"/>
            </a:pPr>
            <a:r>
              <a:rPr sz="1600" b="0" u="none" i="0">
                <a:solidFill>
                  <a:schemeClr val="bg1"/>
                </a:solidFill>
                <a:latin typeface="Arial"/>
                <a:cs typeface="Arial"/>
              </a:rPr>
              <a:t>Royal Marines History. (2020). HM King George V, The King’s Squad &amp; King’s Badge. Retrieved from: https://www.royalmarineshistory.com</a:t>
            </a:r>
          </a:p>
          <a:p>
            <a:pPr marL="571500" indent="-571500" algn="l">
              <a:spcAft>
                <a:spcPts val="600"/>
              </a:spcAft>
              <a:buFont typeface="Arial"/>
              <a:buAutoNum type="arabicPeriod"/>
            </a:pPr>
            <a:r>
              <a:rPr sz="1600" b="0" u="none" i="0">
                <a:solidFill>
                  <a:schemeClr val="bg1"/>
                </a:solidFill>
                <a:latin typeface="Arial"/>
                <a:cs typeface="Arial"/>
              </a:rPr>
              <a:t>Wikipedia. (n.d.). Hugh McManners. Retrieved from: https://en.wikipedia.org/wiki/Hugh_McManners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ection"/>
          <p:cNvSpPr txBox="1"/>
          <p:nvPr/>
        </p:nvSpPr>
        <p:spPr>
          <a:xfrm>
            <a:off x="914400" y="2651760"/>
            <a:ext cx="10360152" cy="1463040"/>
          </a:xfrm>
          <a:prstGeom prst="rect">
            <a:avLst/>
          </a:prstGeom>
          <a:noFill/>
        </p:spPr>
        <p:txBody>
          <a:bodyPr wrap="square" anchor="ctr">
            <a:spAutoFit/>
          </a:bodyPr>
          <a:lstStyle/>
          <a:p>
            <a:pPr algn="ctr"/>
            <a:r>
              <a:rPr sz="3200" b="0" u="none" i="0">
                <a:solidFill>
                  <a:schemeClr val="bg1"/>
                </a:solidFill>
                <a:latin typeface="Arial"/>
                <a:cs typeface="Arial"/>
              </a:rPr>
              <a:t>QUESTION AND CONTRIBUTIONS</a:t>
            </a:r>
          </a:p>
        </p:txBody>
      </p:sp>
    </p:spTree>
  </p:cSld>
  <p:clrMapOvr>
    <a:masterClrMapping/>
  </p:clrMapOvr>
</p:sld>
</file>

<file path=ppt/theme/theme1.xml><?xml version="1.0" encoding="utf-8"?>
<a:theme xmlns:a="http://schemas.openxmlformats.org/drawingml/2006/main" name="Depth">
  <a:themeElements>
    <a:clrScheme name="Depth">
      <a:dk1>
        <a:sysClr val="windowText" lastClr="000000"/>
      </a:dk1>
      <a:lt1>
        <a:sysClr val="window" lastClr="FFFFFF"/>
      </a:lt1>
      <a:dk2>
        <a:srgbClr val="455F51"/>
      </a:dk2>
      <a:lt2>
        <a:srgbClr val="94D7E4"/>
      </a:lt2>
      <a:accent1>
        <a:srgbClr val="41AEBD"/>
      </a:accent1>
      <a:accent2>
        <a:srgbClr val="97E9D5"/>
      </a:accent2>
      <a:accent3>
        <a:srgbClr val="A2CF49"/>
      </a:accent3>
      <a:accent4>
        <a:srgbClr val="608F3D"/>
      </a:accent4>
      <a:accent5>
        <a:srgbClr val="F4DE3A"/>
      </a:accent5>
      <a:accent6>
        <a:srgbClr val="FCB11C"/>
      </a:accent6>
      <a:hlink>
        <a:srgbClr val="FBCA98"/>
      </a:hlink>
      <a:folHlink>
        <a:srgbClr val="D3B86D"/>
      </a:folHlink>
    </a:clrScheme>
    <a:fontScheme name="Depth">
      <a:maj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メイリオ"/>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epth">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60E043B4-84B1-4DF1-9EC8-F5C17718802A}" vid="{8B3477DA-5FF7-4773-A309-4DF6E4AF57A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Presentation Template</Template>
  <TotalTime>2129</TotalTime>
  <Words>1009</Words>
  <Application>Microsoft Office PowerPoint</Application>
  <PresentationFormat>Widescreen</PresentationFormat>
  <Paragraphs>124</Paragraphs>
  <Slides>25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Corbel</vt:lpstr>
      <vt:lpstr>Times New Roman</vt:lpstr>
      <vt:lpstr>Wingdings</vt:lpstr>
      <vt:lpstr>Depth</vt:lpstr>
      <vt:lpstr>BOOK REVIEW ON “WATERLOO: NAPOLEON’S LAST CAMPAIGN” BY CHRISTOPHER HIBBERT  </vt:lpstr>
      <vt:lpstr>PowerPoint Presentation</vt:lpstr>
      <vt:lpstr>INTRODUCTION (CONT)</vt:lpstr>
      <vt:lpstr>INTRODUCTION (CONT)</vt:lpstr>
      <vt:lpstr> AIM</vt:lpstr>
      <vt:lpstr>PowerPoint Presentation</vt:lpstr>
      <vt:lpstr>PowerPoint Presentation</vt:lpstr>
      <vt:lpstr> BIOGRAPHY OF CHRISTOPHER HIBBERT (CONT)</vt:lpstr>
      <vt:lpstr> BIOGRAPHY CHRISTOPHER HIBBERT (CONT)</vt:lpstr>
      <vt:lpstr> BIOGRAPHY OF CHRISTOPHER HIBBERT (CONT)</vt:lpstr>
      <vt:lpstr> BIOGRAPHY OF CHRISTOPHER HIBBERT (CONT)</vt:lpstr>
      <vt:lpstr>PowerPoint Presentation</vt:lpstr>
      <vt:lpstr> OVERVIEW OF THE BOOK (CONT) </vt:lpstr>
      <vt:lpstr> OVERVIEW OF THE BOOK (CONT) </vt:lpstr>
      <vt:lpstr>PowerPoint Presentation</vt:lpstr>
      <vt:lpstr>PowerPoint Presentation</vt:lpstr>
      <vt:lpstr>PowerPoint Presentation</vt:lpstr>
      <vt:lpstr>PowerPoint Presentation</vt:lpstr>
      <vt:lpstr>PowerPoint Presentation</vt:lpstr>
      <vt:lpstr>PowerPoint Presentation</vt:lpstr>
      <vt:lpstr>LESSONS LEARNT (CONT)</vt:lpstr>
      <vt:lpstr>PowerPoint Presentation</vt:lpstr>
      <vt:lpstr>PowerPoint Presentation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Review of Commando: Winning the Green Beret by Hugh McManners</dc:title>
  <dc:creator/>
  <cp:lastModifiedBy>surface</cp:lastModifiedBy>
  <cp:revision>131</cp:revision>
  <dcterms:created xsi:type="dcterms:W3CDTF">2022-03-15T15:30:55Z</dcterms:created>
  <dcterms:modified xsi:type="dcterms:W3CDTF">2026-05-01T01:30:19Z</dcterms:modified>
</cp:coreProperties>
</file>