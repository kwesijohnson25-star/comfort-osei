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7"/>
  </p:notesMasterIdLst>
  <p:handoutMasterIdLst>
    <p:handoutMasterId r:id="rId28"/>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8"/>
    <p:sldId id="275" r:id="rId7"/>
    <p:sldId id="276" r:id="rId6"/>
    <p:sldId id="277" r:id="rId5"/>
    <p:sldId id="278" r:id="rId4"/>
    <p:sldId id="279" r:id="rId3"/>
    <p:sldId id="280" r:id="rId2"/>
    <p:sldId id="281" r:id="rId34"/>
    <p:sldId id="282"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ima Stephen" initials="C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0" autoAdjust="0"/>
    <p:restoredTop sz="94660"/>
  </p:normalViewPr>
  <p:slideViewPr>
    <p:cSldViewPr snapToGrid="0">
      <p:cViewPr varScale="1">
        <p:scale>
          <a:sx n="85" d="100"/>
          <a:sy n="85" d="100"/>
        </p:scale>
        <p:origin x="48" y="51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5.xml"/><Relationship Id="rId3" Type="http://schemas.openxmlformats.org/officeDocument/2006/relationships/slide" Target="slides/slide24.xml"/><Relationship Id="rId4" Type="http://schemas.openxmlformats.org/officeDocument/2006/relationships/slide" Target="slides/slide23.xml"/><Relationship Id="rId5" Type="http://schemas.openxmlformats.org/officeDocument/2006/relationships/slide" Target="slides/slide22.xml"/><Relationship Id="rId6" Type="http://schemas.openxmlformats.org/officeDocument/2006/relationships/slide" Target="slides/slide21.xml"/><Relationship Id="rId7" Type="http://schemas.openxmlformats.org/officeDocument/2006/relationships/slide" Target="slides/slide20.xml"/><Relationship Id="rId8" Type="http://schemas.openxmlformats.org/officeDocument/2006/relationships/slide" Target="slides/slide19.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notesMaster" Target="notesMasters/notesMaster1.xml"/><Relationship Id="rId28" Type="http://schemas.openxmlformats.org/officeDocument/2006/relationships/handoutMaster" Target="handoutMasters/handoutMaster1.xml"/><Relationship Id="rId29" Type="http://schemas.openxmlformats.org/officeDocument/2006/relationships/commentAuthors" Target="commentAuthors.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6.xml"/><Relationship Id="rId35"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153670-CDC2-4F05-BB07-436C415CDF7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RESTRICTED</a:t>
            </a:r>
            <a:endParaRPr lang="x-none"/>
          </a:p>
        </p:txBody>
      </p:sp>
      <p:sp>
        <p:nvSpPr>
          <p:cNvPr id="3" name="Date Placeholder 2">
            <a:extLst>
              <a:ext uri="{FF2B5EF4-FFF2-40B4-BE49-F238E27FC236}">
                <a16:creationId xmlns:a16="http://schemas.microsoft.com/office/drawing/2014/main" id="{59E517C3-B6BF-480B-8709-0B7D7434FB6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3D8579-0909-4E3A-AE77-ECF4D5F7A57B}" type="datetimeFigureOut">
              <a:rPr lang="x-none" smtClean="0"/>
              <a:pPr/>
              <a:t>5/1/2026</a:t>
            </a:fld>
            <a:endParaRPr lang="x-none"/>
          </a:p>
        </p:txBody>
      </p:sp>
      <p:sp>
        <p:nvSpPr>
          <p:cNvPr id="4" name="Footer Placeholder 3">
            <a:extLst>
              <a:ext uri="{FF2B5EF4-FFF2-40B4-BE49-F238E27FC236}">
                <a16:creationId xmlns:a16="http://schemas.microsoft.com/office/drawing/2014/main" id="{261EDEBC-CD8F-4477-86C7-1250110B282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5" name="Slide Number Placeholder 4">
            <a:extLst>
              <a:ext uri="{FF2B5EF4-FFF2-40B4-BE49-F238E27FC236}">
                <a16:creationId xmlns:a16="http://schemas.microsoft.com/office/drawing/2014/main" id="{66E0389A-0A73-486E-9874-CDDDB36F66A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598C092-DB5B-435A-8387-4EF271746F5A}" type="slidenum">
              <a:rPr lang="x-none" smtClean="0"/>
              <a:pPr/>
              <a:t>‹#›</a:t>
            </a:fld>
            <a:endParaRPr lang="x-none"/>
          </a:p>
        </p:txBody>
      </p:sp>
    </p:spTree>
    <p:extLst>
      <p:ext uri="{BB962C8B-B14F-4D97-AF65-F5344CB8AC3E}">
        <p14:creationId xmlns:p14="http://schemas.microsoft.com/office/powerpoint/2010/main" val="3700522087"/>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RESTRICTED</a:t>
            </a:r>
            <a:endParaRPr lang="x-non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ED7DB1-F265-4FE1-AA6E-0A0875D16FFB}" type="datetimeFigureOut">
              <a:rPr lang="x-none" smtClean="0"/>
              <a:pPr/>
              <a:t>5/1/2026</a:t>
            </a:fld>
            <a:endParaRPr lang="x-non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x-non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E1ECF-FE3E-4958-959B-637ED4EE936F}" type="slidenum">
              <a:rPr lang="x-none" smtClean="0"/>
              <a:pPr/>
              <a:t>‹#›</a:t>
            </a:fld>
            <a:endParaRPr lang="x-none"/>
          </a:p>
        </p:txBody>
      </p:sp>
    </p:spTree>
    <p:extLst>
      <p:ext uri="{BB962C8B-B14F-4D97-AF65-F5344CB8AC3E}">
        <p14:creationId xmlns:p14="http://schemas.microsoft.com/office/powerpoint/2010/main" val="244233411"/>
      </p:ext>
    </p:extLst>
  </p:cSld>
  <p:clrMap bg1="lt1" tx1="dk1" bg2="lt2" tx2="dk2" accent1="accent1" accent2="accent2" accent3="accent3" accent4="accent4" accent5="accent5" accent6="accent6" hlink="hlink" folHlink="folHlink"/>
  <p:hf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Few emblems in the profession of arms carry the prestige of the Green Beret of the British Commando. The Commandos were born in the darkest days of the Second World War, as volunteer raiding forces sent to strike back at occupied Europe. They became so feared that Hitler declared captured Commandos to be outside the protection of the Geneva Conventions. Today the Royal Marines, together with the soldiers, sailors and airmen of 3 Commando Brigade, must pass the gruelling Commando Course before they may wear the beret.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book follows two courses through the bitter winter of 1992: 638 Recruit Troop of young Royal Marines recruits, and All Arms Commando Course 4/92, made up of volunteers from the Army, the Royal Navy and the Royal Air Force. Its central message is that the essence of commando selection is mental: determination, discipline and character under extreme fatigue. Publishers Weekly described it as a “brief and arresting” account of why the Royal Marine Commandos are so highly regarded.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Hugh McManners was born in Oxford in 1952 and raised largely in Australia. He read Geography at St Edmund Hall, Oxford, and was commissioned into the Royal Artillery in 1973. Significantly, he passed the All Arms Commando Course himself, and served five years with 148 Commando Forward Observation Battery as a commando, military parachutist and army diver. He also ran the Army’s jungle warfare school in Belize. In the Falklands War of 1982 he led a naval gunfire observation team with the Special Boat Service and was Mentioned in Despatches. He left the Army as a Major in 1989.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photographs of the author.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some of his books: “Falklands Commando”, one of the first eye-witness accounts of combat in the Falklands; “The Scars of War”, a study of the psychological cost of combat; “Forgotten Voices of the Falklands”, produced with the Imperial War Museum; and the book under review. His combat experience and journalistic skill make him exceptionally qualified to write this 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front and back covers of the book. The dust jacket shows two mud-soaked recruits wading through water during training, with the title in bold red. The back cover carries a silhouette of commandos at sunset and the tagline, “The most feared amphibious infantry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was published in 1994 by Network Books, an imprint of BBC Books, in London. The copy under review is the hardcover edition of 192 pages, with an Introduction, seven chapters, an Epilogue and an index. It is richly illustrated with photographs taken during filming, and it is also available in paperback and Kindle at affordable prices.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Introduction traces the history of the Commandos and introduces the four Commando Tests. Chapter 1 follows the All Arms volunteers through helicopter escape drills, cliff-climbing and the terrifying “death dive”, by which time only 15 of the original 34 remain. In Chapters 2 and 3, 638 Troop learn amphibious raiding at Poole, raid a fort at Portland, are ambushed in their lorries and then mount their own dawn ambush. Chapter 4 takes the troop across Dartmoor in relentless rain, ending with a dawn assault on a Napoleonic 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Chapter 5, the instructors judge each recruit with one question: “Would I be prepared to go to war with this man?” Chapter 6 describes the four Commando Tests: the endurance course, the 9-mile speed march, the Tarzan assault course and the 30-mile march across Dartmoor. In Chapter 7, the recruits pass out as the King’s Squad and the volunteers receive their Green Berets. The Epilogue reveals that Recruit Jaftha, who once broke his leg on the Tarzan course, finally earned his Green Beret in February 1993.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significance, the book is one of the most authoritative insider accounts of commando selection, showing how ordinary young men become elite soldiers. The materials are entirely original, drawn from first-hand observation and the recorded words of recruits and instructors. The facts are presented with precision; test standards, numbers and dates are carefully recorded, and the training staff read the chapters before publication. On clarity, the chapters follow the course in logical sequence and military terms are explained as they arise. The book is highly readable, written in the present tense with the immediacy of a live documentary. It is mentally stimulating, as it invites the reader to ask what he would have done in the instructors’ place. It is broad-minded, giving a voice to everyone from the youngest recruit to the Commandant. Finally, it is inspiring, above all through Recruit Jaftha’s perseverance and the fair, decisive leadership of his commanders.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mental resilience, not physical strength alone, decides success under cold, fatigue and stress. Second, personal administration and attention to detail are combat skills; a soldier who cannot look after his weapon and his feet cannot be relied upon. Third, common standards build trust in a joint force, a lesson directly relevant to the Ghana Armed Forces in joint operations and peace support missions.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good leadership combines firmness with fairness and judges each soldier as a whole. Fifth, thorough orders, rehearsals and brief-backs sustain operations even when communications fail. And finally, integrity is the bedrock of trust within any unit.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“Commando: Winning the Green Beret” vividly captures the journey of young recruits and seasoned volunteers through one of the most demanding military courses in the world. Its clear narrative, authentic dialogue and rich illustrations make it accessible to every reader, while its lessons in resilience, discipline, leadership and integrity make it highly relevant to the professional officer. I therefore highly recommend it to all officers, particularly those involved in training and the selection of soldiers for specialist units.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DS, good morning colleagues. I am (rank and name). This morning I will be presenting a review of the book “Commando: Winning the Green Beret” by Hugh McManners.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begin with the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of this presentation is to review the book “Commando: Winning the Green Beret” by Hugh McManners with the goal of assessing its scope and relevance and drawing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achieve this aim, the presentation will cover the biography of the author, an overview of the book, a summary of the book, an evaluation of the book, the lessons learnt and 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now take you through the biography of the author, Hugh McManners.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Army, he became Defence Correspondent of The Sunday Times and wrote for The Observer and The Daily Telegraph. He produced television documentaries, including the series on which this book is based, edited Command magazine and has written some fifteen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now give an overview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on to the summary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scenes from the book show an assault landing at Poole, Recruit Jaftha frozen at the edge of the chasm, the All Arms volunteers on Dartmoor, and two new commandos wearing the Green Beret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now evaluate the book.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offers several lessons for us as officers.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used for this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 colleagues, I am now ready to take your questions and contributions.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aption">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Quote with Caption">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Name Car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Picture Column">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2060">
            <a:alpha val="0"/>
          </a:srgbClr>
        </a:solidFill>
        <a:effectLst/>
      </p:bgPr>
    </p:bg>
    <p:spTree>
      <p:nvGrpSpPr>
        <p:cNvPr id="1" name=""/>
        <p:cNvGrpSpPr/>
        <p:nvPr/>
      </p:nvGrpSpPr>
      <p:grpSpPr>
        <a:xfrm>
          <a:off x="0" y="0"/>
          <a:ext cx="0" cy="0"/>
          <a:chOff x="0" y="0"/>
          <a:chExt cx="0" cy="0"/>
        </a:xfrm>
      </p:grpSpPr>
      <p:pic>
        <p:nvPicPr>
          <p:cNvPr id="7" name="Picture 3">
            <a:extLst>
              <a:ext uri="{FF2B5EF4-FFF2-40B4-BE49-F238E27FC236}">
                <a16:creationId xmlns:a16="http://schemas.microsoft.com/office/drawing/2014/main" id="{73B4C3CC-799B-478D-AC03-86E01BE02C54}"/>
              </a:ext>
            </a:extLst>
          </p:cNvPr>
          <p:cNvPicPr>
            <a:picLocks noChangeAspect="1"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9859" y="13648"/>
            <a:ext cx="969738" cy="1053265"/>
          </a:xfrm>
          <a:prstGeom prst="rect">
            <a:avLst/>
          </a:prstGeom>
          <a:solidFill>
            <a:srgbClr val="0000FF"/>
          </a:solidFill>
          <a:ln>
            <a:noFill/>
          </a:ln>
          <a:extLst>
            <a:ext uri="{91240B29-F687-4F45-9708-019B960494DF}">
              <a14:hiddenLine xmlns:a14="http://schemas.microsoft.com/office/drawing/2010/main" w="9525">
                <a:solidFill>
                  <a:srgbClr val="FF0000"/>
                </a:solidFill>
                <a:miter lim="800000"/>
                <a:headEnd/>
                <a:tailEnd/>
              </a14:hiddenLine>
            </a:ext>
          </a:extLst>
        </p:spPr>
      </p:pic>
      <p:pic>
        <p:nvPicPr>
          <p:cNvPr id="8" name="Picture 3">
            <a:extLst>
              <a:ext uri="{FF2B5EF4-FFF2-40B4-BE49-F238E27FC236}">
                <a16:creationId xmlns:a16="http://schemas.microsoft.com/office/drawing/2014/main" id="{37A93D82-574F-4B1B-9D34-7748D8AB8F3E}"/>
              </a:ext>
            </a:extLst>
          </p:cNvPr>
          <p:cNvPicPr>
            <a:picLocks noChangeAspect="1"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11212403" y="13648"/>
            <a:ext cx="969738" cy="1053265"/>
          </a:xfrm>
          <a:prstGeom prst="rect">
            <a:avLst/>
          </a:prstGeom>
          <a:solidFill>
            <a:srgbClr val="0000FF"/>
          </a:solidFill>
          <a:ln>
            <a:noFill/>
          </a:ln>
          <a:extLst>
            <a:ext uri="{91240B29-F687-4F45-9708-019B960494DF}">
              <a14:hiddenLine xmlns:a14="http://schemas.microsoft.com/office/drawing/2010/main" w="9525">
                <a:solidFill>
                  <a:srgbClr val="FF0000"/>
                </a:solidFill>
                <a:miter lim="800000"/>
                <a:headEnd/>
                <a:tailEnd/>
              </a14:hiddenLine>
            </a:ext>
          </a:extLst>
        </p:spPr>
      </p:pic>
      <p:sp>
        <p:nvSpPr>
          <p:cNvPr id="9" name="TextBox 8"/>
          <p:cNvSpPr txBox="1"/>
          <p:nvPr userDrawn="1"/>
        </p:nvSpPr>
        <p:spPr>
          <a:xfrm>
            <a:off x="4762500" y="50800"/>
            <a:ext cx="2667000" cy="400110"/>
          </a:xfrm>
          <a:prstGeom prst="rect">
            <a:avLst/>
          </a:prstGeom>
          <a:noFill/>
        </p:spPr>
        <p:txBody>
          <a:bodyPr wrap="square" rtlCol="0">
            <a:spAutoFit/>
          </a:bodyPr>
          <a:lstStyle/>
          <a:p>
            <a:pPr algn="ctr"/>
            <a:r>
              <a:rPr lang="en-US" sz="2000" dirty="0">
                <a:solidFill>
                  <a:schemeClr val="bg1"/>
                </a:solidFill>
                <a:latin typeface="Arial" pitchFamily="34" charset="0"/>
                <a:ea typeface="Tahoma" pitchFamily="34" charset="0"/>
                <a:cs typeface="Arial" pitchFamily="34" charset="0"/>
              </a:rPr>
              <a:t>RESTRICTED</a:t>
            </a:r>
          </a:p>
        </p:txBody>
      </p:sp>
      <p:sp>
        <p:nvSpPr>
          <p:cNvPr id="10" name="TextBox 9"/>
          <p:cNvSpPr txBox="1"/>
          <p:nvPr userDrawn="1"/>
        </p:nvSpPr>
        <p:spPr>
          <a:xfrm>
            <a:off x="4953000" y="6438325"/>
            <a:ext cx="2667000" cy="400110"/>
          </a:xfrm>
          <a:prstGeom prst="rect">
            <a:avLst/>
          </a:prstGeom>
          <a:noFill/>
        </p:spPr>
        <p:txBody>
          <a:bodyPr wrap="square" rtlCol="0">
            <a:spAutoFit/>
          </a:bodyPr>
          <a:lstStyle/>
          <a:p>
            <a:pPr algn="ctr"/>
            <a:r>
              <a:rPr lang="en-US" sz="2000" dirty="0">
                <a:solidFill>
                  <a:schemeClr val="bg1"/>
                </a:solidFill>
                <a:latin typeface="Arial" pitchFamily="34" charset="0"/>
                <a:ea typeface="Tahoma" pitchFamily="34" charset="0"/>
                <a:cs typeface="Arial" pitchFamily="34" charset="0"/>
              </a:rPr>
              <a:t>RESTRICTED</a:t>
            </a:r>
          </a:p>
        </p:txBody>
      </p:sp>
      <p:sp>
        <p:nvSpPr>
          <p:cNvPr id="11" name="TextBox 10"/>
          <p:cNvSpPr txBox="1"/>
          <p:nvPr userDrawn="1"/>
        </p:nvSpPr>
        <p:spPr>
          <a:xfrm>
            <a:off x="10972800" y="6419790"/>
            <a:ext cx="1206500" cy="400110"/>
          </a:xfrm>
          <a:prstGeom prst="rect">
            <a:avLst/>
          </a:prstGeom>
          <a:noFill/>
        </p:spPr>
        <p:txBody>
          <a:bodyPr wrap="square" rtlCol="0">
            <a:spAutoFit/>
          </a:bodyPr>
          <a:lstStyle/>
          <a:p>
            <a:pPr algn="ctr"/>
            <a:fld id="{0716D1F8-E267-44E0-8F89-D79C545F68DF}" type="slidenum">
              <a:rPr lang="en-US" sz="2000" smtClean="0">
                <a:solidFill>
                  <a:schemeClr val="bg1"/>
                </a:solidFill>
                <a:latin typeface="Arial" pitchFamily="34" charset="0"/>
                <a:ea typeface="Tahoma" pitchFamily="34" charset="0"/>
                <a:cs typeface="Arial" pitchFamily="34" charset="0"/>
              </a:rPr>
              <a:pPr algn="ctr"/>
              <a:t>‹#›</a:t>
            </a:fld>
            <a:endParaRPr lang="en-US" sz="2000" dirty="0">
              <a:solidFill>
                <a:schemeClr val="bg1"/>
              </a:solidFill>
              <a:latin typeface="Arial" pitchFamily="34" charset="0"/>
              <a:ea typeface="Tahoma" pitchFamily="34" charset="0"/>
              <a:cs typeface="Arial" pitchFamily="34" charset="0"/>
            </a:endParaRP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hf hdr="0" dt="0"/>
  <p:txStyles>
    <p:titleStyle>
      <a:lvl1pPr algn="l" defTabSz="914400" rtl="0" eaLnBrk="1" latinLnBrk="0" hangingPunct="1">
        <a:lnSpc>
          <a:spcPct val="90000"/>
        </a:lnSpc>
        <a:spcBef>
          <a:spcPct val="0"/>
        </a:spcBef>
        <a:buNone/>
        <a:defRPr sz="5400" b="0" kern="1200">
          <a:solidFill>
            <a:srgbClr val="FFFF00"/>
          </a:solidFill>
          <a:latin typeface="Times New Roman" panose="02020603050405020304" pitchFamily="18" charset="0"/>
          <a:ea typeface="+mj-ea"/>
          <a:cs typeface="Times New Roman" panose="02020603050405020304" pitchFamily="18"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FFFF00"/>
          </a:solidFill>
          <a:latin typeface="Times New Roman" panose="02020603050405020304" pitchFamily="18" charset="0"/>
          <a:ea typeface="+mn-ea"/>
          <a:cs typeface="Times New Roman" panose="02020603050405020304" pitchFamily="18" charset="0"/>
        </a:defRPr>
      </a:lvl1pPr>
      <a:lvl2pPr marL="971550" indent="-514350" algn="l" defTabSz="914400" rtl="0" eaLnBrk="1" latinLnBrk="0" hangingPunct="1">
        <a:lnSpc>
          <a:spcPct val="90000"/>
        </a:lnSpc>
        <a:spcBef>
          <a:spcPts val="500"/>
        </a:spcBef>
        <a:buFont typeface="+mj-lt"/>
        <a:buAutoNum type="arabicPeriod"/>
        <a:defRPr sz="2800" kern="1200">
          <a:solidFill>
            <a:srgbClr val="FFFF00"/>
          </a:solidFill>
          <a:latin typeface="Times New Roman" panose="02020603050405020304" pitchFamily="18" charset="0"/>
          <a:ea typeface="+mn-ea"/>
          <a:cs typeface="Times New Roman" panose="02020603050405020304" pitchFamily="18" charset="0"/>
        </a:defRPr>
      </a:lvl2pPr>
      <a:lvl3pPr marL="1428750" indent="-514350" algn="l" defTabSz="914400" rtl="0" eaLnBrk="1" latinLnBrk="0" hangingPunct="1">
        <a:lnSpc>
          <a:spcPct val="90000"/>
        </a:lnSpc>
        <a:spcBef>
          <a:spcPts val="500"/>
        </a:spcBef>
        <a:buFont typeface="+mj-lt"/>
        <a:buAutoNum type="alphaLcPeriod"/>
        <a:defRPr sz="2800" kern="1200">
          <a:solidFill>
            <a:srgbClr val="FFFF00"/>
          </a:solidFill>
          <a:latin typeface="Times New Roman" panose="02020603050405020304" pitchFamily="18" charset="0"/>
          <a:ea typeface="+mn-ea"/>
          <a:cs typeface="Times New Roman" panose="02020603050405020304" pitchFamily="18" charset="0"/>
        </a:defRPr>
      </a:lvl3pPr>
      <a:lvl4pPr marL="1885950" indent="-514350" algn="l" defTabSz="914400" rtl="0" eaLnBrk="1" latinLnBrk="0" hangingPunct="1">
        <a:lnSpc>
          <a:spcPct val="90000"/>
        </a:lnSpc>
        <a:spcBef>
          <a:spcPts val="500"/>
        </a:spcBef>
        <a:buFont typeface="+mj-lt"/>
        <a:buAutoNum type="arabicParenR"/>
        <a:defRPr sz="2800" kern="1200">
          <a:solidFill>
            <a:srgbClr val="FFFF00"/>
          </a:solidFill>
          <a:latin typeface="Times New Roman" panose="02020603050405020304" pitchFamily="18" charset="0"/>
          <a:ea typeface="+mn-ea"/>
          <a:cs typeface="Times New Roman" panose="02020603050405020304" pitchFamily="18" charset="0"/>
        </a:defRPr>
      </a:lvl4pPr>
      <a:lvl5pPr marL="2343150" indent="-514350" algn="l" defTabSz="914400" rtl="0" eaLnBrk="1" latinLnBrk="0" hangingPunct="1">
        <a:lnSpc>
          <a:spcPct val="90000"/>
        </a:lnSpc>
        <a:spcBef>
          <a:spcPts val="500"/>
        </a:spcBef>
        <a:buFont typeface="+mj-lt"/>
        <a:buAutoNum type="alphaLcParenR"/>
        <a:defRPr sz="2800" kern="1200">
          <a:solidFill>
            <a:srgbClr val="FFFF00"/>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777240" y="1325880"/>
            <a:ext cx="10634472" cy="2103120"/>
          </a:xfrm>
          <a:prstGeom prst="rect">
            <a:avLst/>
          </a:prstGeom>
          <a:noFill/>
        </p:spPr>
        <p:txBody>
          <a:bodyPr wrap="square" anchor="ctr">
            <a:spAutoFit/>
          </a:bodyPr>
          <a:lstStyle/>
          <a:p>
            <a:pPr algn="ctr"/>
            <a:r>
              <a:rPr sz="3600" b="1" u="none" i="0">
                <a:solidFill>
                  <a:schemeClr val="bg1"/>
                </a:solidFill>
                <a:latin typeface="Arial"/>
                <a:cs typeface="Arial"/>
              </a:rPr>
              <a:t>REVIEW OF “COMMANDO: WINNING THE GREEN BERET” BY HUGH McMANNERS</a:t>
            </a:r>
          </a:p>
        </p:txBody>
      </p:sp>
      <p:sp>
        <p:nvSpPr>
          <p:cNvPr id="3" name="Presenter"/>
          <p:cNvSpPr txBox="1"/>
          <p:nvPr/>
        </p:nvSpPr>
        <p:spPr>
          <a:xfrm>
            <a:off x="777240" y="3977639"/>
            <a:ext cx="10634472" cy="731520"/>
          </a:xfrm>
          <a:prstGeom prst="rect">
            <a:avLst/>
          </a:prstGeom>
          <a:noFill/>
        </p:spPr>
        <p:txBody>
          <a:bodyPr wrap="square">
            <a:spAutoFit/>
          </a:bodyPr>
          <a:lstStyle/>
          <a:p>
            <a:pPr algn="ctr"/>
            <a:r>
              <a:rPr sz="2800" b="1" u="none" i="0">
                <a:solidFill>
                  <a:schemeClr val="bg1"/>
                </a:solidFill>
                <a:latin typeface="Arial"/>
                <a:cs typeface="Arial"/>
              </a:rPr>
              <a:t>PRESENTATION BY (RANK &amp;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INTRODUCTION (CONT)</a:t>
            </a:r>
          </a:p>
        </p:txBody>
      </p:sp>
      <p:sp>
        <p:nvSpPr>
          <p:cNvPr id="3" name="Content"/>
          <p:cNvSpPr txBox="1"/>
          <p:nvPr/>
        </p:nvSpPr>
        <p:spPr>
          <a:xfrm>
            <a:off x="548640" y="1234440"/>
            <a:ext cx="11064240" cy="5029200"/>
          </a:xfrm>
          <a:prstGeom prst="rect">
            <a:avLst/>
          </a:prstGeom>
          <a:noFill/>
        </p:spPr>
        <p:txBody>
          <a:bodyPr wrap="square">
            <a:spAutoFit/>
          </a:bodyPr>
          <a:lstStyle/>
          <a:p>
            <a:pPr marL="457200" indent="-457200" algn="just">
              <a:spcAft>
                <a:spcPts val="1800"/>
              </a:spcAft>
              <a:buFont typeface="Arial"/>
              <a:buChar char="•"/>
            </a:pPr>
            <a:r>
              <a:rPr sz="2600" b="0" u="none" i="0">
                <a:solidFill>
                  <a:schemeClr val="bg1"/>
                </a:solidFill>
                <a:latin typeface="Arial"/>
                <a:cs typeface="Arial"/>
              </a:rPr>
              <a:t>Few emblems in the profession of arms command the prestige and mystique of the Green Beret of the British Commando.</a:t>
            </a:r>
          </a:p>
          <a:p>
            <a:pPr marL="457200" indent="-457200" algn="just">
              <a:spcAft>
                <a:spcPts val="1800"/>
              </a:spcAft>
              <a:buFont typeface="Arial"/>
              <a:buChar char="•"/>
            </a:pPr>
            <a:r>
              <a:rPr sz="2600" b="0" u="none" i="0">
                <a:solidFill>
                  <a:schemeClr val="bg1"/>
                </a:solidFill>
                <a:latin typeface="Arial"/>
                <a:cs typeface="Arial"/>
              </a:rPr>
              <a:t>Born in the Second World War, the Commandos became so feared that Hitler declared captured Commandos outside the protection of the Geneva Conventions.</a:t>
            </a:r>
          </a:p>
          <a:p>
            <a:pPr marL="457200" indent="-457200" algn="just">
              <a:spcAft>
                <a:spcPts val="1800"/>
              </a:spcAft>
              <a:buFont typeface="Arial"/>
              <a:buChar char="•"/>
            </a:pPr>
            <a:r>
              <a:rPr sz="2600" b="0" u="none" i="0">
                <a:solidFill>
                  <a:schemeClr val="bg1"/>
                </a:solidFill>
                <a:latin typeface="Arial"/>
                <a:cs typeface="Arial"/>
              </a:rPr>
              <a:t>Today the soldiers, sailors, airmen and Royal Marines of 3 Commando Brigade must pass the gruelling Commando Course to wear the beret.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INTRODUCTION (CONT)</a:t>
            </a:r>
          </a:p>
        </p:txBody>
      </p:sp>
      <p:sp>
        <p:nvSpPr>
          <p:cNvPr id="3" name="Content"/>
          <p:cNvSpPr txBox="1"/>
          <p:nvPr/>
        </p:nvSpPr>
        <p:spPr>
          <a:xfrm>
            <a:off x="548640" y="1234440"/>
            <a:ext cx="11064240" cy="5029200"/>
          </a:xfrm>
          <a:prstGeom prst="rect">
            <a:avLst/>
          </a:prstGeom>
          <a:noFill/>
        </p:spPr>
        <p:txBody>
          <a:bodyPr wrap="square">
            <a:spAutoFit/>
          </a:bodyPr>
          <a:lstStyle/>
          <a:p>
            <a:pPr marL="457200" indent="-457200" algn="just">
              <a:spcAft>
                <a:spcPts val="1800"/>
              </a:spcAft>
              <a:buFont typeface="Arial"/>
              <a:buChar char="•"/>
            </a:pPr>
            <a:r>
              <a:rPr sz="2600" b="0" u="none" i="0">
                <a:solidFill>
                  <a:schemeClr val="bg1"/>
                </a:solidFill>
                <a:latin typeface="Arial"/>
                <a:cs typeface="Arial"/>
              </a:rPr>
              <a:t>“Commando: Winning the Green Beret” by Hugh McManners follows 638 Recruit Troop and All Arms Commando Course 4/92 through the winter of 1992.</a:t>
            </a:r>
          </a:p>
          <a:p>
            <a:pPr marL="457200" indent="-457200" algn="just">
              <a:spcAft>
                <a:spcPts val="1800"/>
              </a:spcAft>
              <a:buFont typeface="Arial"/>
              <a:buChar char="•"/>
            </a:pPr>
            <a:r>
              <a:rPr sz="2600" b="0" u="none" i="0">
                <a:solidFill>
                  <a:schemeClr val="bg1"/>
                </a:solidFill>
                <a:latin typeface="Arial"/>
                <a:cs typeface="Arial"/>
              </a:rPr>
              <a:t>It reveals that the essence of commando selection is mental: determination, discipline and character under extreme fatigue.</a:t>
            </a:r>
          </a:p>
          <a:p>
            <a:pPr marL="457200" indent="-457200" algn="just">
              <a:spcAft>
                <a:spcPts val="1800"/>
              </a:spcAft>
              <a:buFont typeface="Arial"/>
              <a:buChar char="•"/>
            </a:pPr>
            <a:r>
              <a:rPr sz="2600" b="0" u="none" i="0">
                <a:solidFill>
                  <a:schemeClr val="bg1"/>
                </a:solidFill>
                <a:latin typeface="Arial"/>
                <a:cs typeface="Arial"/>
              </a:rPr>
              <a:t>Described by Publishers Weekly as a “brief and arresting” account of why the Royal Marine Commandos are so highly regarded.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AIM</a:t>
            </a:r>
          </a:p>
        </p:txBody>
      </p:sp>
      <p:sp>
        <p:nvSpPr>
          <p:cNvPr id="3" name="Content"/>
          <p:cNvSpPr txBox="1"/>
          <p:nvPr/>
        </p:nvSpPr>
        <p:spPr>
          <a:xfrm>
            <a:off x="548640" y="2011680"/>
            <a:ext cx="11064240" cy="5029200"/>
          </a:xfrm>
          <a:prstGeom prst="rect">
            <a:avLst/>
          </a:prstGeom>
          <a:noFill/>
        </p:spPr>
        <p:txBody>
          <a:bodyPr wrap="square">
            <a:spAutoFit/>
          </a:bodyPr>
          <a:lstStyle/>
          <a:p>
            <a:pPr marL="457200" indent="-457200" algn="just">
              <a:spcAft>
                <a:spcPts val="1400"/>
              </a:spcAft>
              <a:buFont typeface="Arial"/>
              <a:buChar char="•"/>
            </a:pPr>
            <a:r>
              <a:rPr sz="3000" b="0" u="none" i="0">
                <a:solidFill>
                  <a:schemeClr val="bg1"/>
                </a:solidFill>
                <a:latin typeface="Arial"/>
                <a:cs typeface="Arial"/>
              </a:rPr>
              <a:t>To review the book “Commando: Winning the Green Beret” by Hugh McManners with the goal of assessing its scope and relevance and drawing lessons.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SCOPE</a:t>
            </a:r>
          </a:p>
        </p:txBody>
      </p:sp>
      <p:sp>
        <p:nvSpPr>
          <p:cNvPr id="3" name="Content"/>
          <p:cNvSpPr txBox="1"/>
          <p:nvPr/>
        </p:nvSpPr>
        <p:spPr>
          <a:xfrm>
            <a:off x="1097280" y="1234440"/>
            <a:ext cx="9601200" cy="5029200"/>
          </a:xfrm>
          <a:prstGeom prst="rect">
            <a:avLst/>
          </a:prstGeom>
          <a:noFill/>
        </p:spPr>
        <p:txBody>
          <a:bodyPr wrap="square">
            <a:spAutoFit/>
          </a:bodyPr>
          <a:lstStyle/>
          <a:p>
            <a:pPr marL="571500" indent="-571500" algn="l">
              <a:spcAft>
                <a:spcPts val="1200"/>
              </a:spcAft>
              <a:buFont typeface="Arial"/>
              <a:buAutoNum type="arabicPeriod"/>
            </a:pPr>
            <a:r>
              <a:rPr sz="2800" b="0" u="none" i="0">
                <a:solidFill>
                  <a:schemeClr val="bg1"/>
                </a:solidFill>
                <a:latin typeface="Arial"/>
                <a:cs typeface="Arial"/>
              </a:rPr>
              <a:t>Biography of the Author.</a:t>
            </a:r>
          </a:p>
          <a:p>
            <a:pPr marL="571500" indent="-571500" algn="l">
              <a:spcAft>
                <a:spcPts val="1200"/>
              </a:spcAft>
              <a:buFont typeface="Arial"/>
              <a:buAutoNum type="arabicPeriod"/>
            </a:pPr>
            <a:r>
              <a:rPr sz="2800" b="0" u="none" i="0">
                <a:solidFill>
                  <a:schemeClr val="bg1"/>
                </a:solidFill>
                <a:latin typeface="Arial"/>
                <a:cs typeface="Arial"/>
              </a:rPr>
              <a:t>Overview of the Book.</a:t>
            </a:r>
          </a:p>
          <a:p>
            <a:pPr marL="571500" indent="-571500" algn="l">
              <a:spcAft>
                <a:spcPts val="1200"/>
              </a:spcAft>
              <a:buFont typeface="Arial"/>
              <a:buAutoNum type="arabicPeriod"/>
            </a:pPr>
            <a:r>
              <a:rPr sz="2800" b="0" u="none" i="0">
                <a:solidFill>
                  <a:schemeClr val="bg1"/>
                </a:solidFill>
                <a:latin typeface="Arial"/>
                <a:cs typeface="Arial"/>
              </a:rPr>
              <a:t>Summary of the Book.</a:t>
            </a:r>
          </a:p>
          <a:p>
            <a:pPr marL="571500" indent="-571500" algn="l">
              <a:spcAft>
                <a:spcPts val="1200"/>
              </a:spcAft>
              <a:buFont typeface="Arial"/>
              <a:buAutoNum type="arabicPeriod"/>
            </a:pPr>
            <a:r>
              <a:rPr sz="2800" b="0" u="none" i="0">
                <a:solidFill>
                  <a:schemeClr val="bg1"/>
                </a:solidFill>
                <a:latin typeface="Arial"/>
                <a:cs typeface="Arial"/>
              </a:rPr>
              <a:t>Evaluation of the Book.</a:t>
            </a:r>
          </a:p>
          <a:p>
            <a:pPr marL="571500" indent="-571500" algn="l">
              <a:spcAft>
                <a:spcPts val="1200"/>
              </a:spcAft>
              <a:buFont typeface="Arial"/>
              <a:buAutoNum type="arabicPeriod"/>
            </a:pPr>
            <a:r>
              <a:rPr sz="2800" b="0" u="none" i="0">
                <a:solidFill>
                  <a:schemeClr val="bg1"/>
                </a:solidFill>
                <a:latin typeface="Arial"/>
                <a:cs typeface="Arial"/>
              </a:rPr>
              <a:t>Lessons Learnt.</a:t>
            </a:r>
          </a:p>
          <a:p>
            <a:pPr marL="571500" indent="-571500" algn="l">
              <a:spcAft>
                <a:spcPts val="1200"/>
              </a:spcAft>
              <a:buFont typeface="Arial"/>
              <a:buAutoNum type="arabicPeriod"/>
            </a:pPr>
            <a:r>
              <a:rPr sz="2800" b="0" u="none" i="0">
                <a:solidFill>
                  <a:schemeClr val="bg1"/>
                </a:solidFill>
                <a:latin typeface="Arial"/>
                <a:cs typeface="Arial"/>
              </a:rPr>
              <a:t>Conclusion.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BIOGRAPHY OF THE AUTHOR</a:t>
            </a:r>
          </a:p>
          <a:p>
            <a:pPr algn="ctr"/>
            <a:r>
              <a:rPr sz="3200" b="0" u="none" i="0">
                <a:solidFill>
                  <a:schemeClr val="bg1"/>
                </a:solidFill>
                <a:latin typeface="Arial"/>
                <a:cs typeface="Arial"/>
              </a:rPr>
              <a:t>HUGH McMANNERS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sp>
        <p:nvSpPr>
          <p:cNvPr id="3" name="Content"/>
          <p:cNvSpPr txBox="1"/>
          <p:nvPr/>
        </p:nvSpPr>
        <p:spPr>
          <a:xfrm>
            <a:off x="457200" y="1234440"/>
            <a:ext cx="8138160" cy="5029200"/>
          </a:xfrm>
          <a:prstGeom prst="rect">
            <a:avLst/>
          </a:prstGeom>
          <a:noFill/>
        </p:spPr>
        <p:txBody>
          <a:bodyPr wrap="square">
            <a:spAutoFit/>
          </a:bodyPr>
          <a:lstStyle/>
          <a:p>
            <a:pPr>
              <a:spcAft>
                <a:spcPts val="600"/>
              </a:spcAft>
              <a:buNone/>
            </a:pPr>
            <a:r>
              <a:rPr sz="1800" b="0" u="sng" i="0">
                <a:solidFill>
                  <a:schemeClr val="bg1"/>
                </a:solidFill>
                <a:latin typeface="Arial"/>
                <a:cs typeface="Arial"/>
              </a:rPr>
              <a:t>Birth and Military Career</a:t>
            </a:r>
          </a:p>
          <a:p>
            <a:pPr marL="457200" indent="-457200" algn="just">
              <a:spcAft>
                <a:spcPts val="600"/>
              </a:spcAft>
              <a:buFont typeface="Arial"/>
              <a:buChar char="•"/>
            </a:pPr>
            <a:r>
              <a:rPr sz="1800" b="0" u="none" i="0">
                <a:solidFill>
                  <a:schemeClr val="bg1"/>
                </a:solidFill>
                <a:latin typeface="Arial"/>
                <a:cs typeface="Arial"/>
              </a:rPr>
              <a:t>Born in Oxford in 1952 and raised largely in Australia.</a:t>
            </a:r>
          </a:p>
          <a:p>
            <a:pPr marL="457200" indent="-457200" algn="just">
              <a:spcAft>
                <a:spcPts val="600"/>
              </a:spcAft>
              <a:buFont typeface="Arial"/>
              <a:buChar char="•"/>
            </a:pPr>
            <a:r>
              <a:rPr sz="1800" b="0" u="none" i="0">
                <a:solidFill>
                  <a:schemeClr val="bg1"/>
                </a:solidFill>
                <a:latin typeface="Arial"/>
                <a:cs typeface="Arial"/>
              </a:rPr>
              <a:t>Read Geography at St Edmund Hall, Oxford.</a:t>
            </a:r>
          </a:p>
          <a:p>
            <a:pPr marL="457200" indent="-457200" algn="just">
              <a:spcAft>
                <a:spcPts val="600"/>
              </a:spcAft>
              <a:buFont typeface="Arial"/>
              <a:buChar char="•"/>
            </a:pPr>
            <a:r>
              <a:rPr sz="1800" b="0" u="none" i="0">
                <a:solidFill>
                  <a:schemeClr val="bg1"/>
                </a:solidFill>
                <a:latin typeface="Arial"/>
                <a:cs typeface="Arial"/>
              </a:rPr>
              <a:t>Commissioned into the Royal Artillery in 1973.</a:t>
            </a:r>
          </a:p>
          <a:p>
            <a:pPr marL="457200" indent="-457200" algn="just">
              <a:spcAft>
                <a:spcPts val="600"/>
              </a:spcAft>
              <a:buFont typeface="Arial"/>
              <a:buChar char="•"/>
            </a:pPr>
            <a:r>
              <a:rPr sz="1800" b="0" u="none" i="0">
                <a:solidFill>
                  <a:schemeClr val="bg1"/>
                </a:solidFill>
                <a:latin typeface="Arial"/>
                <a:cs typeface="Arial"/>
              </a:rPr>
              <a:t>Passed the All Arms Commando Course and served five years with 148 (Meiktila) Commando Forward Observation Battery.</a:t>
            </a:r>
          </a:p>
          <a:p>
            <a:pPr marL="457200" indent="-457200" algn="just">
              <a:spcAft>
                <a:spcPts val="600"/>
              </a:spcAft>
              <a:buFont typeface="Arial"/>
              <a:buChar char="•"/>
            </a:pPr>
            <a:r>
              <a:rPr sz="1800" b="0" u="none" i="0">
                <a:solidFill>
                  <a:schemeClr val="bg1"/>
                </a:solidFill>
                <a:latin typeface="Arial"/>
                <a:cs typeface="Arial"/>
              </a:rPr>
              <a:t>Qualified as a commando, military parachutist and army diving supervisor; ran the Army’s jungle warfare school in Belize.</a:t>
            </a:r>
          </a:p>
          <a:p>
            <a:pPr marL="457200" indent="-457200" algn="just">
              <a:spcAft>
                <a:spcPts val="600"/>
              </a:spcAft>
              <a:buFont typeface="Arial"/>
              <a:buChar char="•"/>
            </a:pPr>
            <a:r>
              <a:rPr sz="1800" b="0" u="none" i="0">
                <a:solidFill>
                  <a:schemeClr val="bg1"/>
                </a:solidFill>
                <a:latin typeface="Arial"/>
                <a:cs typeface="Arial"/>
              </a:rPr>
              <a:t>Falklands War 1982: led a naval gunfire forward observation team with the Special Boat Service; Mentioned in Despatches.</a:t>
            </a:r>
          </a:p>
          <a:p>
            <a:pPr marL="457200" indent="-457200" algn="just">
              <a:spcAft>
                <a:spcPts val="600"/>
              </a:spcAft>
              <a:buFont typeface="Arial"/>
              <a:buChar char="•"/>
            </a:pPr>
            <a:r>
              <a:rPr sz="1800" b="0" u="none" i="0">
                <a:solidFill>
                  <a:schemeClr val="bg1"/>
                </a:solidFill>
                <a:latin typeface="Arial"/>
                <a:cs typeface="Arial"/>
              </a:rPr>
              <a:t>Left the Army as a Major in 1989 after some 13 years with 3 Commando Brigade.</a:t>
            </a:r>
          </a:p>
        </p:txBody>
      </p:sp>
      <p:pic>
        <p:nvPicPr>
          <p:cNvPr id="4" name="Author photo" descr="u4.jpg"/>
          <p:cNvPicPr>
            <a:picLocks noChangeAspect="1"/>
          </p:cNvPicPr>
          <p:nvPr/>
        </p:nvPicPr>
        <p:blipFill>
          <a:blip r:embed="rId2"/>
          <a:stretch>
            <a:fillRect/>
          </a:stretch>
        </p:blipFill>
        <p:spPr>
          <a:xfrm>
            <a:off x="9006840" y="1325880"/>
            <a:ext cx="2651760" cy="2663868"/>
          </a:xfrm>
          <a:prstGeom prst="rect">
            <a:avLst/>
          </a:prstGeom>
        </p:spPr>
      </p:pic>
      <p:sp>
        <p:nvSpPr>
          <p:cNvPr id="5" name="Caption"/>
          <p:cNvSpPr txBox="1"/>
          <p:nvPr/>
        </p:nvSpPr>
        <p:spPr>
          <a:xfrm>
            <a:off x="8641080" y="4069080"/>
            <a:ext cx="3383280" cy="640080"/>
          </a:xfrm>
          <a:prstGeom prst="rect">
            <a:avLst/>
          </a:prstGeom>
          <a:noFill/>
        </p:spPr>
        <p:txBody>
          <a:bodyPr wrap="square">
            <a:spAutoFit/>
          </a:bodyPr>
          <a:lstStyle/>
          <a:p>
            <a:pPr algn="ctr"/>
            <a:r>
              <a:rPr sz="1200" b="0" u="none" i="0">
                <a:solidFill>
                  <a:schemeClr val="bg1"/>
                </a:solidFill>
                <a:latin typeface="Arial"/>
                <a:cs typeface="Arial"/>
              </a:rPr>
              <a:t>Hugh McManners</a:t>
            </a:r>
          </a:p>
          <a:p>
            <a:pPr algn="ctr"/>
            <a:r>
              <a:rPr sz="1000" b="0" u="none" i="0">
                <a:solidFill>
                  <a:schemeClr val="bg1"/>
                </a:solidFill>
                <a:latin typeface="Arial"/>
                <a:cs typeface="Arial"/>
              </a:rPr>
              <a:t>Source: https://www.google.com/search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sp>
        <p:nvSpPr>
          <p:cNvPr id="3" name="Content"/>
          <p:cNvSpPr txBox="1"/>
          <p:nvPr/>
        </p:nvSpPr>
        <p:spPr>
          <a:xfrm>
            <a:off x="457200" y="1234440"/>
            <a:ext cx="8138160" cy="5029200"/>
          </a:xfrm>
          <a:prstGeom prst="rect">
            <a:avLst/>
          </a:prstGeom>
          <a:noFill/>
        </p:spPr>
        <p:txBody>
          <a:bodyPr wrap="square">
            <a:spAutoFit/>
          </a:bodyPr>
          <a:lstStyle/>
          <a:p>
            <a:pPr>
              <a:spcAft>
                <a:spcPts val="600"/>
              </a:spcAft>
              <a:buNone/>
            </a:pPr>
            <a:r>
              <a:rPr sz="2000" b="0" u="sng" i="0">
                <a:solidFill>
                  <a:schemeClr val="bg1"/>
                </a:solidFill>
                <a:latin typeface="Arial"/>
                <a:cs typeface="Arial"/>
              </a:rPr>
              <a:t>Career after the Army</a:t>
            </a:r>
          </a:p>
          <a:p>
            <a:pPr marL="457200" indent="-457200" algn="l">
              <a:spcAft>
                <a:spcPts val="1000"/>
              </a:spcAft>
              <a:buFont typeface="Arial"/>
              <a:buChar char="•"/>
            </a:pPr>
            <a:r>
              <a:rPr sz="2000" b="0" u="none" i="0">
                <a:solidFill>
                  <a:schemeClr val="bg1"/>
                </a:solidFill>
                <a:latin typeface="Arial"/>
                <a:cs typeface="Arial"/>
              </a:rPr>
              <a:t>Defence Correspondent of The Sunday Times; also wrote for The Observer and The Daily Telegraph.</a:t>
            </a:r>
          </a:p>
          <a:p>
            <a:pPr marL="457200" indent="-457200" algn="l">
              <a:spcAft>
                <a:spcPts val="1000"/>
              </a:spcAft>
              <a:buFont typeface="Arial"/>
              <a:buChar char="•"/>
            </a:pPr>
            <a:r>
              <a:rPr sz="2000" b="0" u="none" i="0">
                <a:solidFill>
                  <a:schemeClr val="bg1"/>
                </a:solidFill>
                <a:latin typeface="Arial"/>
                <a:cs typeface="Arial"/>
              </a:rPr>
              <a:t>Television documentary producer; co-devised the series “Commando” on which this book is based.</a:t>
            </a:r>
          </a:p>
          <a:p>
            <a:pPr marL="457200" indent="-457200" algn="l">
              <a:spcAft>
                <a:spcPts val="1000"/>
              </a:spcAft>
              <a:buFont typeface="Arial"/>
              <a:buChar char="•"/>
            </a:pPr>
            <a:r>
              <a:rPr sz="2000" b="0" u="none" i="0">
                <a:solidFill>
                  <a:schemeClr val="bg1"/>
                </a:solidFill>
                <a:latin typeface="Arial"/>
                <a:cs typeface="Arial"/>
              </a:rPr>
              <a:t>Editor of Command magazine.</a:t>
            </a:r>
          </a:p>
          <a:p>
            <a:pPr marL="457200" indent="-457200" algn="l">
              <a:spcAft>
                <a:spcPts val="1000"/>
              </a:spcAft>
              <a:buFont typeface="Arial"/>
              <a:buChar char="•"/>
            </a:pPr>
            <a:r>
              <a:rPr sz="2000" b="0" u="none" i="0">
                <a:solidFill>
                  <a:schemeClr val="bg1"/>
                </a:solidFill>
                <a:latin typeface="Arial"/>
                <a:cs typeface="Arial"/>
              </a:rPr>
              <a:t>Author of some fifteen books, including “Falklands Commando” (1984), “The Scars of War” (1993), “The Commando Survival Manual”, “Ultimate Special Forces” and “Forgotten Voices of the Falklands” (2007).</a:t>
            </a:r>
          </a:p>
        </p:txBody>
      </p:sp>
      <p:pic>
        <p:nvPicPr>
          <p:cNvPr id="4" name="Author photo" descr="u5.jpg"/>
          <p:cNvPicPr>
            <a:picLocks noChangeAspect="1"/>
          </p:cNvPicPr>
          <p:nvPr/>
        </p:nvPicPr>
        <p:blipFill>
          <a:blip r:embed="rId2"/>
          <a:stretch>
            <a:fillRect/>
          </a:stretch>
        </p:blipFill>
        <p:spPr>
          <a:xfrm>
            <a:off x="9006840" y="1325880"/>
            <a:ext cx="2651760" cy="2651760"/>
          </a:xfrm>
          <a:prstGeom prst="rect">
            <a:avLst/>
          </a:prstGeom>
        </p:spPr>
      </p:pic>
      <p:sp>
        <p:nvSpPr>
          <p:cNvPr id="5" name="Caption"/>
          <p:cNvSpPr txBox="1"/>
          <p:nvPr/>
        </p:nvSpPr>
        <p:spPr>
          <a:xfrm>
            <a:off x="8641080" y="4069080"/>
            <a:ext cx="3383280" cy="640080"/>
          </a:xfrm>
          <a:prstGeom prst="rect">
            <a:avLst/>
          </a:prstGeom>
          <a:noFill/>
        </p:spPr>
        <p:txBody>
          <a:bodyPr wrap="square">
            <a:spAutoFit/>
          </a:bodyPr>
          <a:lstStyle/>
          <a:p>
            <a:pPr algn="ctr"/>
            <a:r>
              <a:rPr sz="1200" b="0" u="none" i="0">
                <a:solidFill>
                  <a:schemeClr val="bg1"/>
                </a:solidFill>
                <a:latin typeface="Arial"/>
                <a:cs typeface="Arial"/>
              </a:rPr>
              <a:t>Hugh McManners</a:t>
            </a:r>
          </a:p>
          <a:p>
            <a:pPr algn="ctr"/>
            <a:r>
              <a:rPr sz="1000" b="0" u="none" i="0">
                <a:solidFill>
                  <a:schemeClr val="bg1"/>
                </a:solidFill>
                <a:latin typeface="Arial"/>
                <a:cs typeface="Arial"/>
              </a:rPr>
              <a:t>Source: https://www.google.com/search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pic>
        <p:nvPicPr>
          <p:cNvPr id="3" name="Author photo 1" descr="u4.jpg"/>
          <p:cNvPicPr>
            <a:picLocks noChangeAspect="1"/>
          </p:cNvPicPr>
          <p:nvPr/>
        </p:nvPicPr>
        <p:blipFill>
          <a:blip r:embed="rId2"/>
          <a:stretch>
            <a:fillRect/>
          </a:stretch>
        </p:blipFill>
        <p:spPr>
          <a:xfrm>
            <a:off x="2011680" y="1325880"/>
            <a:ext cx="3731998" cy="3749039"/>
          </a:xfrm>
          <a:prstGeom prst="rect">
            <a:avLst/>
          </a:prstGeom>
        </p:spPr>
      </p:pic>
      <p:pic>
        <p:nvPicPr>
          <p:cNvPr id="4" name="Author photo 2" descr="u5.jpg"/>
          <p:cNvPicPr>
            <a:picLocks noChangeAspect="1"/>
          </p:cNvPicPr>
          <p:nvPr/>
        </p:nvPicPr>
        <p:blipFill>
          <a:blip r:embed="rId3"/>
          <a:stretch>
            <a:fillRect/>
          </a:stretch>
        </p:blipFill>
        <p:spPr>
          <a:xfrm>
            <a:off x="6309359" y="1325880"/>
            <a:ext cx="3749039" cy="3749039"/>
          </a:xfrm>
          <a:prstGeom prst="rect">
            <a:avLst/>
          </a:prstGeom>
        </p:spPr>
      </p:pic>
      <p:sp>
        <p:nvSpPr>
          <p:cNvPr id="5" name="Caption"/>
          <p:cNvSpPr txBox="1"/>
          <p:nvPr/>
        </p:nvSpPr>
        <p:spPr>
          <a:xfrm>
            <a:off x="1371600" y="5257800"/>
            <a:ext cx="9445752" cy="640080"/>
          </a:xfrm>
          <a:prstGeom prst="rect">
            <a:avLst/>
          </a:prstGeom>
          <a:noFill/>
        </p:spPr>
        <p:txBody>
          <a:bodyPr wrap="square">
            <a:spAutoFit/>
          </a:bodyPr>
          <a:lstStyle/>
          <a:p>
            <a:pPr algn="ctr"/>
            <a:r>
              <a:rPr sz="1600" b="0" u="none" i="0">
                <a:solidFill>
                  <a:schemeClr val="bg1"/>
                </a:solidFill>
                <a:latin typeface="Arial"/>
                <a:cs typeface="Arial"/>
              </a:rPr>
              <a:t>Photos of Hugh McManners</a:t>
            </a:r>
          </a:p>
          <a:p>
            <a:pPr algn="ctr"/>
            <a:r>
              <a:rPr sz="1200" b="0" u="none" i="0">
                <a:solidFill>
                  <a:schemeClr val="bg1"/>
                </a:solidFill>
                <a:latin typeface="Arial"/>
                <a:cs typeface="Arial"/>
              </a:rPr>
              <a:t>Source: https://www.google.com/search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BIOGRAPHY OF HUGH McMANNERS (CONT)</a:t>
            </a:r>
          </a:p>
        </p:txBody>
      </p:sp>
      <p:pic>
        <p:nvPicPr>
          <p:cNvPr id="3" name="Falklands Commando" descr="u3.jpg"/>
          <p:cNvPicPr>
            <a:picLocks noChangeAspect="1"/>
          </p:cNvPicPr>
          <p:nvPr/>
        </p:nvPicPr>
        <p:blipFill>
          <a:blip r:embed="rId2"/>
          <a:stretch>
            <a:fillRect/>
          </a:stretch>
        </p:blipFill>
        <p:spPr>
          <a:xfrm>
            <a:off x="777240" y="1280160"/>
            <a:ext cx="2504750" cy="3886200"/>
          </a:xfrm>
          <a:prstGeom prst="rect">
            <a:avLst/>
          </a:prstGeom>
        </p:spPr>
      </p:pic>
      <p:pic>
        <p:nvPicPr>
          <p:cNvPr id="4" name="The Scars of War" descr="u2.jpg"/>
          <p:cNvPicPr>
            <a:picLocks noChangeAspect="1"/>
          </p:cNvPicPr>
          <p:nvPr/>
        </p:nvPicPr>
        <p:blipFill>
          <a:blip r:embed="rId3"/>
          <a:stretch>
            <a:fillRect/>
          </a:stretch>
        </p:blipFill>
        <p:spPr>
          <a:xfrm>
            <a:off x="3556309" y="1280160"/>
            <a:ext cx="2532343" cy="3886200"/>
          </a:xfrm>
          <a:prstGeom prst="rect">
            <a:avLst/>
          </a:prstGeom>
        </p:spPr>
      </p:pic>
      <p:pic>
        <p:nvPicPr>
          <p:cNvPr id="5" name="Forgotten Voices of the Falklands" descr="u1.jpg"/>
          <p:cNvPicPr>
            <a:picLocks noChangeAspect="1"/>
          </p:cNvPicPr>
          <p:nvPr/>
        </p:nvPicPr>
        <p:blipFill>
          <a:blip r:embed="rId4"/>
          <a:stretch>
            <a:fillRect/>
          </a:stretch>
        </p:blipFill>
        <p:spPr>
          <a:xfrm>
            <a:off x="6362973" y="1280160"/>
            <a:ext cx="2588209" cy="3886200"/>
          </a:xfrm>
          <a:prstGeom prst="rect">
            <a:avLst/>
          </a:prstGeom>
        </p:spPr>
      </p:pic>
      <p:pic>
        <p:nvPicPr>
          <p:cNvPr id="6" name="Commando" descr="cover-001.jpg"/>
          <p:cNvPicPr>
            <a:picLocks noChangeAspect="1"/>
          </p:cNvPicPr>
          <p:nvPr/>
        </p:nvPicPr>
        <p:blipFill>
          <a:blip r:embed="rId5"/>
          <a:stretch>
            <a:fillRect/>
          </a:stretch>
        </p:blipFill>
        <p:spPr>
          <a:xfrm>
            <a:off x="9225502" y="1280160"/>
            <a:ext cx="2500355" cy="3886200"/>
          </a:xfrm>
          <a:prstGeom prst="rect">
            <a:avLst/>
          </a:prstGeom>
        </p:spPr>
      </p:pic>
      <p:sp>
        <p:nvSpPr>
          <p:cNvPr id="7" name="Caption"/>
          <p:cNvSpPr txBox="1"/>
          <p:nvPr/>
        </p:nvSpPr>
        <p:spPr>
          <a:xfrm>
            <a:off x="1371600" y="5349240"/>
            <a:ext cx="9445752" cy="640080"/>
          </a:xfrm>
          <a:prstGeom prst="rect">
            <a:avLst/>
          </a:prstGeom>
          <a:noFill/>
        </p:spPr>
        <p:txBody>
          <a:bodyPr wrap="square">
            <a:spAutoFit/>
          </a:bodyPr>
          <a:lstStyle/>
          <a:p>
            <a:pPr algn="ctr"/>
            <a:r>
              <a:rPr sz="1600" b="0" u="none" i="0">
                <a:solidFill>
                  <a:schemeClr val="bg1"/>
                </a:solidFill>
                <a:latin typeface="Arial"/>
                <a:cs typeface="Arial"/>
              </a:rPr>
              <a:t>Some books authored by Hugh McManners</a:t>
            </a:r>
          </a:p>
          <a:p>
            <a:pPr algn="ctr"/>
            <a:r>
              <a:rPr sz="1200" b="0" u="none" i="0">
                <a:solidFill>
                  <a:schemeClr val="bg1"/>
                </a:solidFill>
                <a:latin typeface="Arial"/>
                <a:cs typeface="Arial"/>
              </a:rPr>
              <a:t>Source: https://www.google.com/search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OVERVIEW OF THE 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OVERVIEW OF THE BOOK (CONT)</a:t>
            </a:r>
          </a:p>
        </p:txBody>
      </p:sp>
      <p:pic>
        <p:nvPicPr>
          <p:cNvPr id="3" name="Front cover" descr="cover-001.jpg"/>
          <p:cNvPicPr>
            <a:picLocks noChangeAspect="1"/>
          </p:cNvPicPr>
          <p:nvPr/>
        </p:nvPicPr>
        <p:blipFill>
          <a:blip r:embed="rId2"/>
          <a:stretch>
            <a:fillRect/>
          </a:stretch>
        </p:blipFill>
        <p:spPr>
          <a:xfrm>
            <a:off x="2331720" y="1188720"/>
            <a:ext cx="2794515" cy="4343400"/>
          </a:xfrm>
          <a:prstGeom prst="rect">
            <a:avLst/>
          </a:prstGeom>
        </p:spPr>
      </p:pic>
      <p:pic>
        <p:nvPicPr>
          <p:cNvPr id="4" name="Back cover" descr="back-200.jpg"/>
          <p:cNvPicPr>
            <a:picLocks noChangeAspect="1"/>
          </p:cNvPicPr>
          <p:nvPr/>
        </p:nvPicPr>
        <p:blipFill>
          <a:blip r:embed="rId3"/>
          <a:stretch>
            <a:fillRect/>
          </a:stretch>
        </p:blipFill>
        <p:spPr>
          <a:xfrm>
            <a:off x="6263640" y="1188720"/>
            <a:ext cx="2680461" cy="4343400"/>
          </a:xfrm>
          <a:prstGeom prst="rect">
            <a:avLst/>
          </a:prstGeom>
        </p:spPr>
      </p:pic>
      <p:sp>
        <p:nvSpPr>
          <p:cNvPr id="5" name="Caption"/>
          <p:cNvSpPr txBox="1"/>
          <p:nvPr/>
        </p:nvSpPr>
        <p:spPr>
          <a:xfrm>
            <a:off x="1371600" y="5623560"/>
            <a:ext cx="9445752" cy="640080"/>
          </a:xfrm>
          <a:prstGeom prst="rect">
            <a:avLst/>
          </a:prstGeom>
          <a:noFill/>
        </p:spPr>
        <p:txBody>
          <a:bodyPr wrap="square">
            <a:spAutoFit/>
          </a:bodyPr>
          <a:lstStyle/>
          <a:p>
            <a:pPr algn="ctr"/>
            <a:r>
              <a:rPr sz="1600" b="0" u="none" i="0">
                <a:solidFill>
                  <a:schemeClr val="bg1"/>
                </a:solidFill>
                <a:latin typeface="Arial"/>
                <a:cs typeface="Arial"/>
              </a:rPr>
              <a:t>Pictures showing the front and back covers of the book “Commando: Winning the Green Beret”</a:t>
            </a:r>
          </a:p>
          <a:p>
            <a:pPr algn="ctr"/>
            <a:r>
              <a:rPr sz="1200" b="0" u="none" i="0">
                <a:solidFill>
                  <a:schemeClr val="bg1"/>
                </a:solidFill>
                <a:latin typeface="Arial"/>
                <a:cs typeface="Arial"/>
              </a:rPr>
              <a:t>Source: McManners, H. (1994). Commando: Winning the Green Beret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OVERVIEW OF THE BOOK (CONT)</a:t>
            </a:r>
          </a:p>
        </p:txBody>
      </p:sp>
      <p:sp>
        <p:nvSpPr>
          <p:cNvPr id="3" name="Content"/>
          <p:cNvSpPr txBox="1"/>
          <p:nvPr/>
        </p:nvSpPr>
        <p:spPr>
          <a:xfrm>
            <a:off x="731520" y="1234440"/>
            <a:ext cx="6766560" cy="5029200"/>
          </a:xfrm>
          <a:prstGeom prst="rect">
            <a:avLst/>
          </a:prstGeom>
          <a:noFill/>
        </p:spPr>
        <p:txBody>
          <a:bodyPr wrap="square">
            <a:spAutoFit/>
          </a:bodyPr>
          <a:lstStyle/>
          <a:p>
            <a:pPr marL="457200" indent="-457200" algn="l">
              <a:spcAft>
                <a:spcPts val="600"/>
              </a:spcAft>
              <a:buFont typeface="Arial"/>
              <a:buChar char="•"/>
            </a:pPr>
            <a:r>
              <a:rPr sz="2400" b="0" u="none" i="0">
                <a:solidFill>
                  <a:schemeClr val="bg1"/>
                </a:solidFill>
                <a:latin typeface="Arial"/>
                <a:cs typeface="Arial"/>
              </a:rPr>
              <a:t>Author: Hugh McManners</a:t>
            </a:r>
          </a:p>
          <a:p>
            <a:pPr marL="457200" indent="-457200" algn="l">
              <a:spcAft>
                <a:spcPts val="600"/>
              </a:spcAft>
              <a:buFont typeface="Arial"/>
              <a:buChar char="•"/>
            </a:pPr>
            <a:r>
              <a:rPr sz="2400" b="0" u="none" i="0">
                <a:solidFill>
                  <a:schemeClr val="bg1"/>
                </a:solidFill>
                <a:latin typeface="Arial"/>
                <a:cs typeface="Arial"/>
              </a:rPr>
              <a:t>Year Published: 1994</a:t>
            </a:r>
          </a:p>
          <a:p>
            <a:pPr marL="457200" indent="-457200" algn="l">
              <a:spcAft>
                <a:spcPts val="600"/>
              </a:spcAft>
              <a:buFont typeface="Arial"/>
              <a:buChar char="•"/>
            </a:pPr>
            <a:r>
              <a:rPr sz="2400" b="0" u="none" i="0">
                <a:solidFill>
                  <a:schemeClr val="bg1"/>
                </a:solidFill>
                <a:latin typeface="Arial"/>
                <a:cs typeface="Arial"/>
              </a:rPr>
              <a:t>Publisher: Network Books (BBC Books)</a:t>
            </a:r>
          </a:p>
          <a:p>
            <a:pPr marL="457200" indent="-457200" algn="l">
              <a:spcAft>
                <a:spcPts val="600"/>
              </a:spcAft>
              <a:buFont typeface="Arial"/>
              <a:buChar char="•"/>
            </a:pPr>
            <a:r>
              <a:rPr sz="2400" b="0" u="none" i="0">
                <a:solidFill>
                  <a:schemeClr val="bg1"/>
                </a:solidFill>
                <a:latin typeface="Arial"/>
                <a:cs typeface="Arial"/>
              </a:rPr>
              <a:t>Place of Publishing: London, Great Britain</a:t>
            </a:r>
          </a:p>
          <a:p>
            <a:pPr marL="457200" indent="-457200" algn="l">
              <a:spcAft>
                <a:spcPts val="600"/>
              </a:spcAft>
              <a:buFont typeface="Arial"/>
              <a:buChar char="•"/>
            </a:pPr>
            <a:r>
              <a:rPr sz="2400" b="0" u="none" i="0">
                <a:solidFill>
                  <a:schemeClr val="bg1"/>
                </a:solidFill>
                <a:latin typeface="Arial"/>
                <a:cs typeface="Arial"/>
              </a:rPr>
              <a:t>ISBN: 0-563-36981-7</a:t>
            </a:r>
          </a:p>
          <a:p>
            <a:pPr marL="457200" indent="-457200" algn="l">
              <a:spcAft>
                <a:spcPts val="600"/>
              </a:spcAft>
              <a:buFont typeface="Arial"/>
              <a:buChar char="•"/>
            </a:pPr>
            <a:r>
              <a:rPr sz="2400" b="0" u="none" i="0">
                <a:solidFill>
                  <a:schemeClr val="bg1"/>
                </a:solidFill>
                <a:latin typeface="Arial"/>
                <a:cs typeface="Arial"/>
              </a:rPr>
              <a:t>Format: Hardcover</a:t>
            </a:r>
          </a:p>
          <a:p>
            <a:pPr marL="457200" indent="-457200" algn="l">
              <a:spcAft>
                <a:spcPts val="600"/>
              </a:spcAft>
              <a:buFont typeface="Arial"/>
              <a:buChar char="•"/>
            </a:pPr>
            <a:r>
              <a:rPr sz="2400" b="0" u="none" i="0">
                <a:solidFill>
                  <a:schemeClr val="bg1"/>
                </a:solidFill>
                <a:latin typeface="Arial"/>
                <a:cs typeface="Arial"/>
              </a:rPr>
              <a:t>Number of pages: 192</a:t>
            </a:r>
          </a:p>
          <a:p>
            <a:pPr marL="457200" indent="-457200" algn="l">
              <a:spcAft>
                <a:spcPts val="600"/>
              </a:spcAft>
              <a:buFont typeface="Arial"/>
              <a:buChar char="•"/>
            </a:pPr>
            <a:r>
              <a:rPr sz="2400" b="0" u="none" i="0">
                <a:solidFill>
                  <a:schemeClr val="bg1"/>
                </a:solidFill>
                <a:latin typeface="Arial"/>
                <a:cs typeface="Arial"/>
              </a:rPr>
              <a:t>Release Language: English</a:t>
            </a:r>
          </a:p>
          <a:p>
            <a:pPr marL="457200" indent="-457200" algn="l">
              <a:spcAft>
                <a:spcPts val="600"/>
              </a:spcAft>
              <a:buFont typeface="Arial"/>
              <a:buChar char="•"/>
            </a:pPr>
            <a:r>
              <a:rPr sz="2400" b="0" u="none" i="0">
                <a:solidFill>
                  <a:schemeClr val="bg1"/>
                </a:solidFill>
                <a:latin typeface="Arial"/>
                <a:cs typeface="Arial"/>
              </a:rPr>
              <a:t>Price: from £2.75 (Amazon, used)</a:t>
            </a:r>
          </a:p>
        </p:txBody>
      </p:sp>
      <p:pic>
        <p:nvPicPr>
          <p:cNvPr id="4" name="Front cover" descr="cover-001.jpg"/>
          <p:cNvPicPr>
            <a:picLocks noChangeAspect="1"/>
          </p:cNvPicPr>
          <p:nvPr/>
        </p:nvPicPr>
        <p:blipFill>
          <a:blip r:embed="rId2"/>
          <a:stretch>
            <a:fillRect/>
          </a:stretch>
        </p:blipFill>
        <p:spPr>
          <a:xfrm>
            <a:off x="8001000" y="1234440"/>
            <a:ext cx="3176922" cy="49377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SUMMARY OF THE 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SUMMARY OF THE BOOK (CONT)</a:t>
            </a:r>
          </a:p>
        </p:txBody>
      </p:sp>
      <p:sp>
        <p:nvSpPr>
          <p:cNvPr id="3" name="Content"/>
          <p:cNvSpPr txBox="1"/>
          <p:nvPr/>
        </p:nvSpPr>
        <p:spPr>
          <a:xfrm>
            <a:off x="822960" y="1371600"/>
            <a:ext cx="10515600" cy="5029200"/>
          </a:xfrm>
          <a:prstGeom prst="rect">
            <a:avLst/>
          </a:prstGeom>
          <a:noFill/>
        </p:spPr>
        <p:txBody>
          <a:bodyPr wrap="square">
            <a:spAutoFit/>
          </a:bodyPr>
          <a:lstStyle/>
          <a:p>
            <a:pPr algn="l">
              <a:spcAft>
                <a:spcPts val="1600"/>
              </a:spcAft>
              <a:buNone/>
            </a:pPr>
            <a:r>
              <a:rPr sz="2800" b="0" u="none" i="0">
                <a:solidFill>
                  <a:schemeClr val="bg1"/>
                </a:solidFill>
                <a:latin typeface="Arial"/>
                <a:cs typeface="Arial"/>
              </a:rPr>
              <a:t>Introduction</a:t>
            </a:r>
          </a:p>
          <a:p>
            <a:pPr algn="l">
              <a:spcAft>
                <a:spcPts val="1600"/>
              </a:spcAft>
              <a:buNone/>
            </a:pPr>
            <a:r>
              <a:rPr sz="2800" b="0" u="none" i="0">
                <a:solidFill>
                  <a:schemeClr val="bg1"/>
                </a:solidFill>
                <a:latin typeface="Arial"/>
                <a:cs typeface="Arial"/>
              </a:rPr>
              <a:t>Chapter 1: All Arms, Volunteer Commandos</a:t>
            </a:r>
          </a:p>
          <a:p>
            <a:pPr algn="l">
              <a:spcAft>
                <a:spcPts val="1600"/>
              </a:spcAft>
              <a:buNone/>
            </a:pPr>
            <a:r>
              <a:rPr sz="2800" b="0" u="none" i="0">
                <a:solidFill>
                  <a:schemeClr val="bg1"/>
                </a:solidFill>
                <a:latin typeface="Arial"/>
                <a:cs typeface="Arial"/>
              </a:rPr>
              <a:t>Chapter 2: Dawn Assault</a:t>
            </a:r>
          </a:p>
          <a:p>
            <a:pPr algn="l">
              <a:spcAft>
                <a:spcPts val="1600"/>
              </a:spcAft>
              <a:buNone/>
            </a:pPr>
            <a:r>
              <a:rPr sz="2800" b="0" u="none" i="0">
                <a:solidFill>
                  <a:schemeClr val="bg1"/>
                </a:solidFill>
                <a:latin typeface="Arial"/>
                <a:cs typeface="Arial"/>
              </a:rPr>
              <a:t>Chapter 3: Ambush</a:t>
            </a:r>
          </a:p>
          <a:p>
            <a:pPr algn="l">
              <a:spcAft>
                <a:spcPts val="1600"/>
              </a:spcAft>
              <a:buNone/>
            </a:pPr>
            <a:r>
              <a:rPr sz="2800" b="0" u="none" i="0">
                <a:solidFill>
                  <a:schemeClr val="bg1"/>
                </a:solidFill>
                <a:latin typeface="Arial"/>
                <a:cs typeface="Arial"/>
              </a:rPr>
              <a:t>Chapter 4: 638 Troop – Dartmoor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SUMMARY OF THE BOOK (CONT)</a:t>
            </a:r>
          </a:p>
        </p:txBody>
      </p:sp>
      <p:sp>
        <p:nvSpPr>
          <p:cNvPr id="3" name="Content"/>
          <p:cNvSpPr txBox="1"/>
          <p:nvPr/>
        </p:nvSpPr>
        <p:spPr>
          <a:xfrm>
            <a:off x="822960" y="1371600"/>
            <a:ext cx="10515600" cy="5029200"/>
          </a:xfrm>
          <a:prstGeom prst="rect">
            <a:avLst/>
          </a:prstGeom>
          <a:noFill/>
        </p:spPr>
        <p:txBody>
          <a:bodyPr wrap="square">
            <a:spAutoFit/>
          </a:bodyPr>
          <a:lstStyle/>
          <a:p>
            <a:pPr algn="l">
              <a:spcAft>
                <a:spcPts val="1600"/>
              </a:spcAft>
              <a:buNone/>
            </a:pPr>
            <a:r>
              <a:rPr sz="2800" b="0" u="none" i="0">
                <a:solidFill>
                  <a:schemeClr val="bg1"/>
                </a:solidFill>
                <a:latin typeface="Arial"/>
                <a:cs typeface="Arial"/>
              </a:rPr>
              <a:t>Chapter 5: The Reckoning</a:t>
            </a:r>
          </a:p>
          <a:p>
            <a:pPr algn="l">
              <a:spcAft>
                <a:spcPts val="1600"/>
              </a:spcAft>
              <a:buNone/>
            </a:pPr>
            <a:r>
              <a:rPr sz="2800" b="0" u="none" i="0">
                <a:solidFill>
                  <a:schemeClr val="bg1"/>
                </a:solidFill>
                <a:latin typeface="Arial"/>
                <a:cs typeface="Arial"/>
              </a:rPr>
              <a:t>Chapter 6: 638 Troop – Commando Tests</a:t>
            </a:r>
          </a:p>
          <a:p>
            <a:pPr algn="l">
              <a:spcAft>
                <a:spcPts val="1600"/>
              </a:spcAft>
              <a:buNone/>
            </a:pPr>
            <a:r>
              <a:rPr sz="2800" b="0" u="none" i="0">
                <a:solidFill>
                  <a:schemeClr val="bg1"/>
                </a:solidFill>
                <a:latin typeface="Arial"/>
                <a:cs typeface="Arial"/>
              </a:rPr>
              <a:t>Chapter 7: The End of the Road</a:t>
            </a:r>
          </a:p>
          <a:p>
            <a:pPr algn="l">
              <a:spcAft>
                <a:spcPts val="1600"/>
              </a:spcAft>
              <a:buNone/>
            </a:pPr>
            <a:r>
              <a:rPr sz="2800" b="0" u="none" i="0">
                <a:solidFill>
                  <a:schemeClr val="bg1"/>
                </a:solidFill>
                <a:latin typeface="Arial"/>
                <a:cs typeface="Arial"/>
              </a:rPr>
              <a:t>Epilogue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SUMMARY OF THE BOOK (CONT)</a:t>
            </a:r>
          </a:p>
        </p:txBody>
      </p:sp>
      <p:pic>
        <p:nvPicPr>
          <p:cNvPr id="3" name="Raiders" descr="raiders.jpg"/>
          <p:cNvPicPr>
            <a:picLocks noChangeAspect="1"/>
          </p:cNvPicPr>
          <p:nvPr/>
        </p:nvPicPr>
        <p:blipFill>
          <a:blip r:embed="rId2"/>
          <a:stretch>
            <a:fillRect/>
          </a:stretch>
        </p:blipFill>
        <p:spPr>
          <a:xfrm>
            <a:off x="1966087" y="1143000"/>
            <a:ext cx="2880106" cy="2103120"/>
          </a:xfrm>
          <a:prstGeom prst="rect">
            <a:avLst/>
          </a:prstGeom>
        </p:spPr>
      </p:pic>
      <p:pic>
        <p:nvPicPr>
          <p:cNvPr id="4" name="Jaftha" descr="jaftha.jpg"/>
          <p:cNvPicPr>
            <a:picLocks noChangeAspect="1"/>
          </p:cNvPicPr>
          <p:nvPr/>
        </p:nvPicPr>
        <p:blipFill>
          <a:blip r:embed="rId3"/>
          <a:stretch>
            <a:fillRect/>
          </a:stretch>
        </p:blipFill>
        <p:spPr>
          <a:xfrm>
            <a:off x="7317643" y="1143000"/>
            <a:ext cx="2875472" cy="2103119"/>
          </a:xfrm>
          <a:prstGeom prst="rect">
            <a:avLst/>
          </a:prstGeom>
        </p:spPr>
      </p:pic>
      <p:pic>
        <p:nvPicPr>
          <p:cNvPr id="5" name="All Arms" descr="allarms.jpg"/>
          <p:cNvPicPr>
            <a:picLocks noChangeAspect="1"/>
          </p:cNvPicPr>
          <p:nvPr/>
        </p:nvPicPr>
        <p:blipFill>
          <a:blip r:embed="rId4"/>
          <a:stretch>
            <a:fillRect/>
          </a:stretch>
        </p:blipFill>
        <p:spPr>
          <a:xfrm>
            <a:off x="1808655" y="3429000"/>
            <a:ext cx="3194969" cy="2103120"/>
          </a:xfrm>
          <a:prstGeom prst="rect">
            <a:avLst/>
          </a:prstGeom>
        </p:spPr>
      </p:pic>
      <p:pic>
        <p:nvPicPr>
          <p:cNvPr id="6" name="Berets" descr="berets.jpg"/>
          <p:cNvPicPr>
            <a:picLocks noChangeAspect="1"/>
          </p:cNvPicPr>
          <p:nvPr/>
        </p:nvPicPr>
        <p:blipFill>
          <a:blip r:embed="rId5"/>
          <a:stretch>
            <a:fillRect/>
          </a:stretch>
        </p:blipFill>
        <p:spPr>
          <a:xfrm>
            <a:off x="6723339" y="3429000"/>
            <a:ext cx="4064080" cy="2103120"/>
          </a:xfrm>
          <a:prstGeom prst="rect">
            <a:avLst/>
          </a:prstGeom>
        </p:spPr>
      </p:pic>
      <p:sp>
        <p:nvSpPr>
          <p:cNvPr id="7" name="Caption"/>
          <p:cNvSpPr txBox="1"/>
          <p:nvPr/>
        </p:nvSpPr>
        <p:spPr>
          <a:xfrm>
            <a:off x="411480" y="5669280"/>
            <a:ext cx="11338560" cy="640080"/>
          </a:xfrm>
          <a:prstGeom prst="rect">
            <a:avLst/>
          </a:prstGeom>
          <a:noFill/>
        </p:spPr>
        <p:txBody>
          <a:bodyPr wrap="square">
            <a:spAutoFit/>
          </a:bodyPr>
          <a:lstStyle/>
          <a:p>
            <a:pPr algn="ctr"/>
            <a:r>
              <a:rPr sz="1400" b="0" u="none" i="0">
                <a:solidFill>
                  <a:schemeClr val="bg1"/>
                </a:solidFill>
                <a:latin typeface="Arial"/>
                <a:cs typeface="Arial"/>
              </a:rPr>
              <a:t>Scenes from the book: assault landing at Poole, Recruit Jaftha at the chasm, All Arms 4/92 on Dartmoor and new Green Berets</a:t>
            </a:r>
          </a:p>
          <a:p>
            <a:pPr algn="ctr"/>
            <a:r>
              <a:rPr sz="1200" b="0" u="none" i="0">
                <a:solidFill>
                  <a:schemeClr val="bg1"/>
                </a:solidFill>
                <a:latin typeface="Arial"/>
                <a:cs typeface="Arial"/>
              </a:rPr>
              <a:t>Source: McManners, H. (1994). Commando: Winning the Green Beret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EVALUATION OF THE BOOK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EVALUATION OF THE BOOK (CONT)</a:t>
            </a:r>
          </a:p>
        </p:txBody>
      </p:sp>
      <p:sp>
        <p:nvSpPr>
          <p:cNvPr id="3" name="Content"/>
          <p:cNvSpPr txBox="1"/>
          <p:nvPr/>
        </p:nvSpPr>
        <p:spPr>
          <a:xfrm>
            <a:off x="1097280" y="1188720"/>
            <a:ext cx="9601200" cy="5029200"/>
          </a:xfrm>
          <a:prstGeom prst="rect">
            <a:avLst/>
          </a:prstGeom>
          <a:noFill/>
        </p:spPr>
        <p:txBody>
          <a:bodyPr wrap="square">
            <a:spAutoFit/>
          </a:bodyPr>
          <a:lstStyle/>
          <a:p>
            <a:pPr marL="571500" indent="-571500" algn="l">
              <a:spcAft>
                <a:spcPts val="600"/>
              </a:spcAft>
              <a:buFont typeface="Arial"/>
              <a:buAutoNum type="arabicPeriod"/>
            </a:pPr>
            <a:r>
              <a:rPr sz="2600" b="0" u="none" i="0">
                <a:solidFill>
                  <a:schemeClr val="bg1"/>
                </a:solidFill>
                <a:latin typeface="Arial"/>
                <a:cs typeface="Arial"/>
              </a:rPr>
              <a:t>Significance of the Book.</a:t>
            </a:r>
          </a:p>
          <a:p>
            <a:pPr marL="571500" indent="-571500" algn="l">
              <a:spcAft>
                <a:spcPts val="600"/>
              </a:spcAft>
              <a:buFont typeface="Arial"/>
              <a:buAutoNum type="arabicPeriod"/>
            </a:pPr>
            <a:r>
              <a:rPr sz="2600" b="0" u="none" i="0">
                <a:solidFill>
                  <a:schemeClr val="bg1"/>
                </a:solidFill>
                <a:latin typeface="Arial"/>
                <a:cs typeface="Arial"/>
              </a:rPr>
              <a:t>Materials Used.</a:t>
            </a:r>
          </a:p>
          <a:p>
            <a:pPr marL="571500" indent="-571500" algn="l">
              <a:spcAft>
                <a:spcPts val="600"/>
              </a:spcAft>
              <a:buFont typeface="Arial"/>
              <a:buAutoNum type="arabicPeriod"/>
            </a:pPr>
            <a:r>
              <a:rPr sz="2600" b="0" u="none" i="0">
                <a:solidFill>
                  <a:schemeClr val="bg1"/>
                </a:solidFill>
                <a:latin typeface="Arial"/>
                <a:cs typeface="Arial"/>
              </a:rPr>
              <a:t>Facts Presented.</a:t>
            </a:r>
          </a:p>
          <a:p>
            <a:pPr marL="571500" indent="-571500" algn="l">
              <a:spcAft>
                <a:spcPts val="600"/>
              </a:spcAft>
              <a:buFont typeface="Arial"/>
              <a:buAutoNum type="arabicPeriod"/>
            </a:pPr>
            <a:r>
              <a:rPr sz="2600" b="0" u="none" i="0">
                <a:solidFill>
                  <a:schemeClr val="bg1"/>
                </a:solidFill>
                <a:latin typeface="Arial"/>
                <a:cs typeface="Arial"/>
              </a:rPr>
              <a:t>Clarity.</a:t>
            </a:r>
          </a:p>
          <a:p>
            <a:pPr marL="571500" indent="-571500" algn="l">
              <a:spcAft>
                <a:spcPts val="600"/>
              </a:spcAft>
              <a:buFont typeface="Arial"/>
              <a:buAutoNum type="arabicPeriod"/>
            </a:pPr>
            <a:r>
              <a:rPr sz="2600" b="0" u="none" i="0">
                <a:solidFill>
                  <a:schemeClr val="bg1"/>
                </a:solidFill>
                <a:latin typeface="Arial"/>
                <a:cs typeface="Arial"/>
              </a:rPr>
              <a:t>Readability.</a:t>
            </a:r>
          </a:p>
          <a:p>
            <a:pPr marL="571500" indent="-571500" algn="l">
              <a:spcAft>
                <a:spcPts val="600"/>
              </a:spcAft>
              <a:buFont typeface="Arial"/>
              <a:buAutoNum type="arabicPeriod"/>
            </a:pPr>
            <a:r>
              <a:rPr sz="2600" b="0" u="none" i="0">
                <a:solidFill>
                  <a:schemeClr val="bg1"/>
                </a:solidFill>
                <a:latin typeface="Arial"/>
                <a:cs typeface="Arial"/>
              </a:rPr>
              <a:t>Mental Stimulation.</a:t>
            </a:r>
          </a:p>
          <a:p>
            <a:pPr marL="571500" indent="-571500" algn="l">
              <a:spcAft>
                <a:spcPts val="600"/>
              </a:spcAft>
              <a:buFont typeface="Arial"/>
              <a:buAutoNum type="arabicPeriod"/>
            </a:pPr>
            <a:r>
              <a:rPr sz="2600" b="0" u="none" i="0">
                <a:solidFill>
                  <a:schemeClr val="bg1"/>
                </a:solidFill>
                <a:latin typeface="Arial"/>
                <a:cs typeface="Arial"/>
              </a:rPr>
              <a:t>Broad-mindedness.</a:t>
            </a:r>
          </a:p>
          <a:p>
            <a:pPr marL="571500" indent="-571500" algn="l">
              <a:spcAft>
                <a:spcPts val="600"/>
              </a:spcAft>
              <a:buFont typeface="Arial"/>
              <a:buAutoNum type="arabicPeriod"/>
            </a:pPr>
            <a:r>
              <a:rPr sz="2600" b="0" u="none" i="0">
                <a:solidFill>
                  <a:schemeClr val="bg1"/>
                </a:solidFill>
                <a:latin typeface="Arial"/>
                <a:cs typeface="Arial"/>
              </a:rPr>
              <a:t>Inspiration.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LESSONS LEARNT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LESSONS LEARNT (CONT)</a:t>
            </a:r>
          </a:p>
        </p:txBody>
      </p:sp>
      <p:sp>
        <p:nvSpPr>
          <p:cNvPr id="3" name="Content"/>
          <p:cNvSpPr txBox="1"/>
          <p:nvPr/>
        </p:nvSpPr>
        <p:spPr>
          <a:xfrm>
            <a:off x="548640" y="1234440"/>
            <a:ext cx="11064240" cy="5029200"/>
          </a:xfrm>
          <a:prstGeom prst="rect">
            <a:avLst/>
          </a:prstGeom>
          <a:noFill/>
        </p:spPr>
        <p:txBody>
          <a:bodyPr wrap="square">
            <a:spAutoFit/>
          </a:bodyPr>
          <a:lstStyle/>
          <a:p>
            <a:pPr marL="457200" indent="-457200" algn="just">
              <a:spcAft>
                <a:spcPts val="1800"/>
              </a:spcAft>
              <a:buFont typeface="Arial"/>
              <a:buChar char="•"/>
            </a:pPr>
            <a:r>
              <a:rPr sz="2400" b="0" u="none" i="0">
                <a:solidFill>
                  <a:schemeClr val="bg1"/>
                </a:solidFill>
                <a:latin typeface="Arial"/>
                <a:cs typeface="Arial"/>
              </a:rPr>
              <a:t>Demonstrates that mental resilience, not physical strength alone, decides success under cold, fatigue and stress.</a:t>
            </a:r>
          </a:p>
          <a:p>
            <a:pPr marL="457200" indent="-457200" algn="just">
              <a:spcAft>
                <a:spcPts val="1800"/>
              </a:spcAft>
              <a:buFont typeface="Arial"/>
              <a:buChar char="•"/>
            </a:pPr>
            <a:r>
              <a:rPr sz="2400" b="0" u="none" i="0">
                <a:solidFill>
                  <a:schemeClr val="bg1"/>
                </a:solidFill>
                <a:latin typeface="Arial"/>
                <a:cs typeface="Arial"/>
              </a:rPr>
              <a:t>Underscores that personal administration and attention to detail are combat skills on which operational effectiveness depends.</a:t>
            </a:r>
          </a:p>
          <a:p>
            <a:pPr marL="457200" indent="-457200" algn="just">
              <a:spcAft>
                <a:spcPts val="1800"/>
              </a:spcAft>
              <a:buFont typeface="Arial"/>
              <a:buChar char="•"/>
            </a:pPr>
            <a:r>
              <a:rPr sz="2400" b="0" u="none" i="0">
                <a:solidFill>
                  <a:schemeClr val="bg1"/>
                </a:solidFill>
                <a:latin typeface="Arial"/>
                <a:cs typeface="Arial"/>
              </a:rPr>
              <a:t>Shows that common standards build trust and interoperability in joint and multinational operations, as in GAF peace support missions.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57200"/>
            <a:ext cx="10085832" cy="594360"/>
          </a:xfrm>
          <a:prstGeom prst="rect">
            <a:avLst/>
          </a:prstGeom>
          <a:noFill/>
        </p:spPr>
        <p:txBody>
          <a:bodyPr wrap="square" anchor="ctr">
            <a:spAutoFit/>
          </a:bodyPr>
          <a:lstStyle/>
          <a:p>
            <a:pPr algn="ctr"/>
            <a:r>
              <a:rPr sz="2800" b="0" u="sng" i="0">
                <a:solidFill>
                  <a:schemeClr val="bg1"/>
                </a:solidFill>
                <a:latin typeface="Arial"/>
                <a:cs typeface="Arial"/>
              </a:rPr>
              <a:t>LESSONS LEARNT (CONT)</a:t>
            </a:r>
          </a:p>
        </p:txBody>
      </p:sp>
      <p:sp>
        <p:nvSpPr>
          <p:cNvPr id="3" name="Content"/>
          <p:cNvSpPr txBox="1"/>
          <p:nvPr/>
        </p:nvSpPr>
        <p:spPr>
          <a:xfrm>
            <a:off x="548640" y="1234440"/>
            <a:ext cx="6400800" cy="5029200"/>
          </a:xfrm>
          <a:prstGeom prst="rect">
            <a:avLst/>
          </a:prstGeom>
          <a:noFill/>
        </p:spPr>
        <p:txBody>
          <a:bodyPr wrap="square">
            <a:spAutoFit/>
          </a:bodyPr>
          <a:lstStyle/>
          <a:p>
            <a:pPr marL="457200" indent="-457200" algn="l">
              <a:spcAft>
                <a:spcPts val="1600"/>
              </a:spcAft>
              <a:buFont typeface="Arial"/>
              <a:buChar char="•"/>
            </a:pPr>
            <a:r>
              <a:rPr sz="2200" b="0" u="none" i="0">
                <a:solidFill>
                  <a:schemeClr val="bg1"/>
                </a:solidFill>
                <a:latin typeface="Arial"/>
                <a:cs typeface="Arial"/>
              </a:rPr>
              <a:t>Highlights the value of leadership that combines firmness with fairness and assesses each soldier as a whole.</a:t>
            </a:r>
          </a:p>
          <a:p>
            <a:pPr marL="457200" indent="-457200" algn="l">
              <a:spcAft>
                <a:spcPts val="1600"/>
              </a:spcAft>
              <a:buFont typeface="Arial"/>
              <a:buChar char="•"/>
            </a:pPr>
            <a:r>
              <a:rPr sz="2200" b="0" u="none" i="0">
                <a:solidFill>
                  <a:schemeClr val="bg1"/>
                </a:solidFill>
                <a:latin typeface="Arial"/>
                <a:cs typeface="Arial"/>
              </a:rPr>
              <a:t>Reveals that thorough orders, rehearsals and brief-backs sustain operations when communications fail.</a:t>
            </a:r>
          </a:p>
          <a:p>
            <a:pPr marL="457200" indent="-457200" algn="l">
              <a:spcAft>
                <a:spcPts val="1600"/>
              </a:spcAft>
              <a:buFont typeface="Arial"/>
              <a:buChar char="•"/>
            </a:pPr>
            <a:r>
              <a:rPr sz="2200" b="0" u="none" i="0">
                <a:solidFill>
                  <a:schemeClr val="bg1"/>
                </a:solidFill>
                <a:latin typeface="Arial"/>
                <a:cs typeface="Arial"/>
              </a:rPr>
              <a:t>Illustrates that integrity is the bedrock of trust within a unit.</a:t>
            </a:r>
          </a:p>
        </p:txBody>
      </p:sp>
      <p:pic>
        <p:nvPicPr>
          <p:cNvPr id="4" name="King's Squad" descr="kingsquad.jpg"/>
          <p:cNvPicPr>
            <a:picLocks noChangeAspect="1"/>
          </p:cNvPicPr>
          <p:nvPr/>
        </p:nvPicPr>
        <p:blipFill>
          <a:blip r:embed="rId2"/>
          <a:stretch>
            <a:fillRect/>
          </a:stretch>
        </p:blipFill>
        <p:spPr>
          <a:xfrm>
            <a:off x="7360920" y="1234440"/>
            <a:ext cx="4188530" cy="4206240"/>
          </a:xfrm>
          <a:prstGeom prst="rect">
            <a:avLst/>
          </a:prstGeom>
        </p:spPr>
      </p:pic>
      <p:sp>
        <p:nvSpPr>
          <p:cNvPr id="5" name="Caption"/>
          <p:cNvSpPr txBox="1"/>
          <p:nvPr/>
        </p:nvSpPr>
        <p:spPr>
          <a:xfrm>
            <a:off x="7040880" y="5486400"/>
            <a:ext cx="4754880" cy="640080"/>
          </a:xfrm>
          <a:prstGeom prst="rect">
            <a:avLst/>
          </a:prstGeom>
          <a:noFill/>
        </p:spPr>
        <p:txBody>
          <a:bodyPr wrap="square">
            <a:spAutoFit/>
          </a:bodyPr>
          <a:lstStyle/>
          <a:p>
            <a:pPr algn="ctr"/>
            <a:r>
              <a:rPr sz="1200" b="0" u="none" i="0">
                <a:solidFill>
                  <a:schemeClr val="bg1"/>
                </a:solidFill>
                <a:latin typeface="Arial"/>
                <a:cs typeface="Arial"/>
              </a:rPr>
              <a:t>638 Troop, the King’s Squad, with their training team</a:t>
            </a:r>
          </a:p>
          <a:p>
            <a:pPr algn="ctr"/>
            <a:r>
              <a:rPr sz="1000" b="0" u="none" i="0">
                <a:solidFill>
                  <a:schemeClr val="bg1"/>
                </a:solidFill>
                <a:latin typeface="Arial"/>
                <a:cs typeface="Arial"/>
              </a:rPr>
              <a:t>Source: McManners, H. (1994). Commando: Winning the Green Beret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CONCLUSION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THANK YOU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51560" y="411480"/>
            <a:ext cx="10085832" cy="594360"/>
          </a:xfrm>
          <a:prstGeom prst="rect">
            <a:avLst/>
          </a:prstGeom>
          <a:noFill/>
        </p:spPr>
        <p:txBody>
          <a:bodyPr wrap="square" anchor="ctr">
            <a:spAutoFit/>
          </a:bodyPr>
          <a:lstStyle/>
          <a:p>
            <a:pPr algn="ctr"/>
            <a:r>
              <a:rPr sz="2800" b="0" u="sng" i="0">
                <a:solidFill>
                  <a:schemeClr val="bg1"/>
                </a:solidFill>
                <a:latin typeface="Arial"/>
                <a:cs typeface="Arial"/>
              </a:rPr>
              <a:t>REFERENCES</a:t>
            </a:r>
          </a:p>
        </p:txBody>
      </p:sp>
      <p:sp>
        <p:nvSpPr>
          <p:cNvPr id="3" name="Content"/>
          <p:cNvSpPr txBox="1"/>
          <p:nvPr/>
        </p:nvSpPr>
        <p:spPr>
          <a:xfrm>
            <a:off x="365760" y="1097280"/>
            <a:ext cx="11430000" cy="5029200"/>
          </a:xfrm>
          <a:prstGeom prst="rect">
            <a:avLst/>
          </a:prstGeom>
          <a:noFill/>
        </p:spPr>
        <p:txBody>
          <a:bodyPr wrap="square">
            <a:spAutoFit/>
          </a:bodyPr>
          <a:lstStyle/>
          <a:p>
            <a:pPr marL="571500" indent="-571500" algn="l">
              <a:spcAft>
                <a:spcPts val="600"/>
              </a:spcAft>
              <a:buFont typeface="Arial"/>
              <a:buAutoNum type="arabicPeriod"/>
            </a:pPr>
            <a:r>
              <a:rPr sz="1600" b="0" u="none" i="0">
                <a:solidFill>
                  <a:schemeClr val="bg1"/>
                </a:solidFill>
                <a:latin typeface="Arial"/>
                <a:cs typeface="Arial"/>
              </a:rPr>
              <a:t>Commando Veterans Archive. (n.d.). Falklands Campaign – Mention in Despatches. Retrieved from: https://www.commandoveterans.org/node/5568</a:t>
            </a:r>
          </a:p>
          <a:p>
            <a:pPr marL="571500" indent="-571500" algn="l">
              <a:spcAft>
                <a:spcPts val="600"/>
              </a:spcAft>
              <a:buFont typeface="Arial"/>
              <a:buAutoNum type="arabicPeriod"/>
            </a:pPr>
            <a:r>
              <a:rPr sz="1600" b="0" u="none" i="0">
                <a:solidFill>
                  <a:schemeClr val="bg1"/>
                </a:solidFill>
                <a:latin typeface="Arial"/>
                <a:cs typeface="Arial"/>
              </a:rPr>
              <a:t>Commando Veterans Archive. (2013). The Four Commando Tests. Retrieved from: https://www.commandoveterans.org/node/5093</a:t>
            </a:r>
          </a:p>
          <a:p>
            <a:pPr marL="571500" indent="-571500" algn="l">
              <a:spcAft>
                <a:spcPts val="600"/>
              </a:spcAft>
              <a:buFont typeface="Arial"/>
              <a:buAutoNum type="arabicPeriod"/>
            </a:pPr>
            <a:r>
              <a:rPr sz="1600" b="0" u="none" i="0">
                <a:solidFill>
                  <a:schemeClr val="bg1"/>
                </a:solidFill>
                <a:latin typeface="Arial"/>
                <a:cs typeface="Arial"/>
              </a:rPr>
              <a:t>McManners, H. (1994). </a:t>
            </a:r>
            <a:r>
              <a:rPr sz="1600" b="0" u="none" i="1">
                <a:solidFill>
                  <a:schemeClr val="bg1"/>
                </a:solidFill>
                <a:latin typeface="Arial"/>
                <a:cs typeface="Arial"/>
              </a:rPr>
              <a:t>Commando: Winning the Green Beret</a:t>
            </a:r>
            <a:r>
              <a:rPr sz="1600" b="0" u="none" i="0">
                <a:solidFill>
                  <a:schemeClr val="bg1"/>
                </a:solidFill>
                <a:latin typeface="Arial"/>
                <a:cs typeface="Arial"/>
              </a:rPr>
              <a:t>. London: Network Books (BBC Books).</a:t>
            </a:r>
          </a:p>
          <a:p>
            <a:pPr marL="571500" indent="-571500" algn="l">
              <a:spcAft>
                <a:spcPts val="600"/>
              </a:spcAft>
              <a:buFont typeface="Arial"/>
              <a:buAutoNum type="arabicPeriod"/>
            </a:pPr>
            <a:r>
              <a:rPr sz="1600" b="0" u="none" i="0">
                <a:solidFill>
                  <a:schemeClr val="bg1"/>
                </a:solidFill>
                <a:latin typeface="Arial"/>
                <a:cs typeface="Arial"/>
              </a:rPr>
              <a:t>Melbourne University Publishing. (n.d.). Author profile: Hugh McManners. Retrieved from: https://mup.com.au/authors/hugh-mcmanners</a:t>
            </a:r>
          </a:p>
          <a:p>
            <a:pPr marL="571500" indent="-571500" algn="l">
              <a:spcAft>
                <a:spcPts val="600"/>
              </a:spcAft>
              <a:buFont typeface="Arial"/>
              <a:buAutoNum type="arabicPeriod"/>
            </a:pPr>
            <a:r>
              <a:rPr sz="1600" b="0" u="none" i="0">
                <a:solidFill>
                  <a:schemeClr val="bg1"/>
                </a:solidFill>
                <a:latin typeface="Arial"/>
                <a:cs typeface="Arial"/>
              </a:rPr>
              <a:t>Publishers Weekly. (1995). Review of </a:t>
            </a:r>
            <a:r>
              <a:rPr sz="1600" b="0" u="none" i="1">
                <a:solidFill>
                  <a:schemeClr val="bg1"/>
                </a:solidFill>
                <a:latin typeface="Arial"/>
                <a:cs typeface="Arial"/>
              </a:rPr>
              <a:t>Commando</a:t>
            </a:r>
            <a:r>
              <a:rPr sz="1600" b="0" u="none" i="0">
                <a:solidFill>
                  <a:schemeClr val="bg1"/>
                </a:solidFill>
                <a:latin typeface="Arial"/>
                <a:cs typeface="Arial"/>
              </a:rPr>
              <a:t> by Hugh McManners. Retrieved from: https://www.publishersweekly.com/9780563369813</a:t>
            </a:r>
          </a:p>
          <a:p>
            <a:pPr marL="571500" indent="-571500" algn="l">
              <a:spcAft>
                <a:spcPts val="600"/>
              </a:spcAft>
              <a:buFont typeface="Arial"/>
              <a:buAutoNum type="arabicPeriod"/>
            </a:pPr>
            <a:r>
              <a:rPr sz="1600" b="0" u="none" i="0">
                <a:solidFill>
                  <a:schemeClr val="bg1"/>
                </a:solidFill>
                <a:latin typeface="Arial"/>
                <a:cs typeface="Arial"/>
              </a:rPr>
              <a:t>Royal Marines History. (2020). HM King George V, The King’s Squad &amp; King’s Badge. Retrieved from: https://www.royalmarineshistory.com</a:t>
            </a:r>
          </a:p>
          <a:p>
            <a:pPr marL="571500" indent="-571500" algn="l">
              <a:spcAft>
                <a:spcPts val="600"/>
              </a:spcAft>
              <a:buFont typeface="Arial"/>
              <a:buAutoNum type="arabicPeriod"/>
            </a:pPr>
            <a:r>
              <a:rPr sz="1600" b="0" u="none" i="0">
                <a:solidFill>
                  <a:schemeClr val="bg1"/>
                </a:solidFill>
                <a:latin typeface="Arial"/>
                <a:cs typeface="Arial"/>
              </a:rPr>
              <a:t>Wikipedia. (n.d.). Hugh McManners. Retrieved from: https://en.wikipedia.org/wiki/Hugh_McManners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p:cNvSpPr txBox="1"/>
          <p:nvPr/>
        </p:nvSpPr>
        <p:spPr>
          <a:xfrm>
            <a:off x="914400" y="2651760"/>
            <a:ext cx="10360152" cy="1463040"/>
          </a:xfrm>
          <a:prstGeom prst="rect">
            <a:avLst/>
          </a:prstGeom>
          <a:noFill/>
        </p:spPr>
        <p:txBody>
          <a:bodyPr wrap="square" anchor="ctr">
            <a:spAutoFit/>
          </a:bodyPr>
          <a:lstStyle/>
          <a:p>
            <a:pPr algn="ctr"/>
            <a:r>
              <a:rPr sz="3200" b="0" u="none" i="0">
                <a:solidFill>
                  <a:schemeClr val="bg1"/>
                </a:solidFill>
                <a:latin typeface="Arial"/>
                <a:cs typeface="Arial"/>
              </a:rPr>
              <a:t>QUESTION AND CONTRIBUTIONS</a:t>
            </a:r>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0E043B4-84B1-4DF1-9EC8-F5C17718802A}" vid="{8B3477DA-5FF7-4773-A309-4DF6E4AF57A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Presentation Template</Template>
  <TotalTime>2129</TotalTime>
  <Words>1009</Words>
  <Application>Microsoft Office PowerPoint</Application>
  <PresentationFormat>Widescreen</PresentationFormat>
  <Paragraphs>124</Paragraphs>
  <Slides>25</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Corbel</vt:lpstr>
      <vt:lpstr>Times New Roman</vt:lpstr>
      <vt:lpstr>Wingdings</vt:lpstr>
      <vt:lpstr>Depth</vt:lpstr>
      <vt:lpstr>BOOK REVIEW ON “WATERLOO: NAPOLEON’S LAST CAMPAIGN” BY CHRISTOPHER HIBBERT  </vt:lpstr>
      <vt:lpstr>PowerPoint Presentation</vt:lpstr>
      <vt:lpstr>INTRODUCTION (CONT)</vt:lpstr>
      <vt:lpstr>INTRODUCTION (CONT)</vt:lpstr>
      <vt:lpstr> AIM</vt:lpstr>
      <vt:lpstr>PowerPoint Presentation</vt:lpstr>
      <vt:lpstr>PowerPoint Presentation</vt:lpstr>
      <vt:lpstr> BIOGRAPHY OF CHRISTOPHER HIBBERT (CONT)</vt:lpstr>
      <vt:lpstr> BIOGRAPHY CHRISTOPHER HIBBERT (CONT)</vt:lpstr>
      <vt:lpstr> BIOGRAPHY OF CHRISTOPHER HIBBERT (CONT)</vt:lpstr>
      <vt:lpstr> BIOGRAPHY OF CHRISTOPHER HIBBERT (CONT)</vt:lpstr>
      <vt:lpstr>PowerPoint Presentation</vt:lpstr>
      <vt:lpstr> OVERVIEW OF THE BOOK (CONT) </vt:lpstr>
      <vt:lpstr> OVERVIEW OF THE BOOK (CONT) </vt:lpstr>
      <vt:lpstr>PowerPoint Presentation</vt:lpstr>
      <vt:lpstr>PowerPoint Presentation</vt:lpstr>
      <vt:lpstr>PowerPoint Presentation</vt:lpstr>
      <vt:lpstr>PowerPoint Presentation</vt:lpstr>
      <vt:lpstr>PowerPoint Presentation</vt:lpstr>
      <vt:lpstr>PowerPoint Presentation</vt:lpstr>
      <vt:lpstr>LESSONS LEARNT (CONT)</vt:lpstr>
      <vt:lpstr>PowerPoint Presentation</vt:lpstr>
      <vt:lpstr>PowerPoint Presentation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of Commando: Winning the Green Beret by Hugh McManners</dc:title>
  <dc:creator/>
  <cp:lastModifiedBy>surface</cp:lastModifiedBy>
  <cp:revision>131</cp:revision>
  <dcterms:created xsi:type="dcterms:W3CDTF">2022-03-15T15:30:55Z</dcterms:created>
  <dcterms:modified xsi:type="dcterms:W3CDTF">2026-05-01T01:30:19Z</dcterms:modified>
</cp:coreProperties>
</file>